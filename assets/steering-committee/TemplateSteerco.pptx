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7547" r:id="rId2"/>
    <p:sldId id="2147480354" r:id="rId3"/>
    <p:sldId id="2147480478" r:id="rId4"/>
    <p:sldId id="2147480477" r:id="rId5"/>
    <p:sldId id="2147480479" r:id="rId6"/>
    <p:sldId id="259" r:id="rId7"/>
    <p:sldId id="261" r:id="rId8"/>
    <p:sldId id="2147480480" r:id="rId9"/>
    <p:sldId id="2147480476" r:id="rId10"/>
    <p:sldId id="2147480461" r:id="rId11"/>
    <p:sldId id="2147480462" r:id="rId12"/>
    <p:sldId id="214748044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EE6CE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B34236-1E94-434B-934E-55BA0BE89269}" v="7" dt="2026-08-27T21:42:38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ti Andrea" userId="6c30d79c-f83e-4418-a790-470d7e6abfac" providerId="ADAL" clId="{7D20013B-56F6-4B72-9AF9-8D93888503DD}"/>
    <pc:docChg chg="undo custSel addSld modSld">
      <pc:chgData name="Rosti Andrea" userId="6c30d79c-f83e-4418-a790-470d7e6abfac" providerId="ADAL" clId="{7D20013B-56F6-4B72-9AF9-8D93888503DD}" dt="2026-08-27T21:42:59.376" v="145" actId="20577"/>
      <pc:docMkLst>
        <pc:docMk/>
      </pc:docMkLst>
      <pc:sldChg chg="modSp mod">
        <pc:chgData name="Rosti Andrea" userId="6c30d79c-f83e-4418-a790-470d7e6abfac" providerId="ADAL" clId="{7D20013B-56F6-4B72-9AF9-8D93888503DD}" dt="2026-08-27T16:50:21.466" v="79" actId="20577"/>
        <pc:sldMkLst>
          <pc:docMk/>
          <pc:sldMk cId="1632744912" sldId="7547"/>
        </pc:sldMkLst>
        <pc:spChg chg="mod">
          <ac:chgData name="Rosti Andrea" userId="6c30d79c-f83e-4418-a790-470d7e6abfac" providerId="ADAL" clId="{7D20013B-56F6-4B72-9AF9-8D93888503DD}" dt="2026-08-27T16:50:21.466" v="79" actId="20577"/>
          <ac:spMkLst>
            <pc:docMk/>
            <pc:sldMk cId="1632744912" sldId="7547"/>
            <ac:spMk id="2" creationId="{B78195A9-8DE5-F609-E39F-177625A67B1B}"/>
          </ac:spMkLst>
        </pc:spChg>
      </pc:sldChg>
      <pc:sldChg chg="addSp delSp modSp mod">
        <pc:chgData name="Rosti Andrea" userId="6c30d79c-f83e-4418-a790-470d7e6abfac" providerId="ADAL" clId="{7D20013B-56F6-4B72-9AF9-8D93888503DD}" dt="2026-08-27T21:42:59.376" v="145" actId="20577"/>
        <pc:sldMkLst>
          <pc:docMk/>
          <pc:sldMk cId="1290044081" sldId="2147480445"/>
        </pc:sldMkLst>
        <pc:graphicFrameChg chg="add">
          <ac:chgData name="Rosti Andrea" userId="6c30d79c-f83e-4418-a790-470d7e6abfac" providerId="ADAL" clId="{7D20013B-56F6-4B72-9AF9-8D93888503DD}" dt="2026-08-27T21:42:37.164" v="109"/>
          <ac:graphicFrameMkLst>
            <pc:docMk/>
            <pc:sldMk cId="1290044081" sldId="2147480445"/>
            <ac:graphicFrameMk id="4" creationId="{E7451D82-C94F-6D5D-5D0E-ECC7F8C5C4B7}"/>
          </ac:graphicFrameMkLst>
        </pc:graphicFrameChg>
        <pc:graphicFrameChg chg="del">
          <ac:chgData name="Rosti Andrea" userId="6c30d79c-f83e-4418-a790-470d7e6abfac" providerId="ADAL" clId="{7D20013B-56F6-4B72-9AF9-8D93888503DD}" dt="2026-08-27T21:42:36.738" v="108" actId="478"/>
          <ac:graphicFrameMkLst>
            <pc:docMk/>
            <pc:sldMk cId="1290044081" sldId="2147480445"/>
            <ac:graphicFrameMk id="6" creationId="{B44D0609-85BC-5E5F-C405-FD295DF9C003}"/>
          </ac:graphicFrameMkLst>
        </pc:graphicFrameChg>
        <pc:graphicFrameChg chg="add modGraphic">
          <ac:chgData name="Rosti Andrea" userId="6c30d79c-f83e-4418-a790-470d7e6abfac" providerId="ADAL" clId="{7D20013B-56F6-4B72-9AF9-8D93888503DD}" dt="2026-08-27T21:42:59.376" v="145" actId="20577"/>
          <ac:graphicFrameMkLst>
            <pc:docMk/>
            <pc:sldMk cId="1290044081" sldId="2147480445"/>
            <ac:graphicFrameMk id="7" creationId="{17540B72-77E7-BF1A-6C77-C59FB9564618}"/>
          </ac:graphicFrameMkLst>
        </pc:graphicFrameChg>
      </pc:sldChg>
      <pc:sldChg chg="modSp">
        <pc:chgData name="Rosti Andrea" userId="6c30d79c-f83e-4418-a790-470d7e6abfac" providerId="ADAL" clId="{7D20013B-56F6-4B72-9AF9-8D93888503DD}" dt="2026-08-27T16:50:56.244" v="106"/>
        <pc:sldMkLst>
          <pc:docMk/>
          <pc:sldMk cId="2376771542" sldId="2147480461"/>
        </pc:sldMkLst>
        <pc:graphicFrameChg chg="mod">
          <ac:chgData name="Rosti Andrea" userId="6c30d79c-f83e-4418-a790-470d7e6abfac" providerId="ADAL" clId="{7D20013B-56F6-4B72-9AF9-8D93888503DD}" dt="2026-08-27T16:50:56.244" v="106"/>
          <ac:graphicFrameMkLst>
            <pc:docMk/>
            <pc:sldMk cId="2376771542" sldId="2147480461"/>
            <ac:graphicFrameMk id="6" creationId="{7A230729-E292-855B-50FE-0C8A18B90962}"/>
          </ac:graphicFrameMkLst>
        </pc:graphicFrameChg>
      </pc:sldChg>
      <pc:sldChg chg="modSp">
        <pc:chgData name="Rosti Andrea" userId="6c30d79c-f83e-4418-a790-470d7e6abfac" providerId="ADAL" clId="{7D20013B-56F6-4B72-9AF9-8D93888503DD}" dt="2026-08-27T16:50:58.358" v="107"/>
        <pc:sldMkLst>
          <pc:docMk/>
          <pc:sldMk cId="3399527290" sldId="2147480462"/>
        </pc:sldMkLst>
        <pc:graphicFrameChg chg="mod">
          <ac:chgData name="Rosti Andrea" userId="6c30d79c-f83e-4418-a790-470d7e6abfac" providerId="ADAL" clId="{7D20013B-56F6-4B72-9AF9-8D93888503DD}" dt="2026-08-27T16:50:58.358" v="107"/>
          <ac:graphicFrameMkLst>
            <pc:docMk/>
            <pc:sldMk cId="3399527290" sldId="2147480462"/>
            <ac:graphicFrameMk id="6" creationId="{9698F3B3-CEC9-1349-ED72-BD167DA3E5B0}"/>
          </ac:graphicFrameMkLst>
        </pc:graphicFrameChg>
      </pc:sldChg>
      <pc:sldChg chg="modSp mod">
        <pc:chgData name="Rosti Andrea" userId="6c30d79c-f83e-4418-a790-470d7e6abfac" providerId="ADAL" clId="{7D20013B-56F6-4B72-9AF9-8D93888503DD}" dt="2026-08-27T16:50:52.051" v="105" actId="20577"/>
        <pc:sldMkLst>
          <pc:docMk/>
          <pc:sldMk cId="3689267514" sldId="2147480476"/>
        </pc:sldMkLst>
        <pc:graphicFrameChg chg="modGraphic">
          <ac:chgData name="Rosti Andrea" userId="6c30d79c-f83e-4418-a790-470d7e6abfac" providerId="ADAL" clId="{7D20013B-56F6-4B72-9AF9-8D93888503DD}" dt="2026-08-27T16:50:52.051" v="105" actId="20577"/>
          <ac:graphicFrameMkLst>
            <pc:docMk/>
            <pc:sldMk cId="3689267514" sldId="2147480476"/>
            <ac:graphicFrameMk id="6" creationId="{A3174002-5E34-F60A-DD8B-DA63C66C4065}"/>
          </ac:graphicFrameMkLst>
        </pc:graphicFrameChg>
      </pc:sldChg>
      <pc:sldChg chg="addSp modSp mod">
        <pc:chgData name="Rosti Andrea" userId="6c30d79c-f83e-4418-a790-470d7e6abfac" providerId="ADAL" clId="{7D20013B-56F6-4B72-9AF9-8D93888503DD}" dt="2026-08-27T16:47:54.418" v="43" actId="1076"/>
        <pc:sldMkLst>
          <pc:docMk/>
          <pc:sldMk cId="250735234" sldId="2147480477"/>
        </pc:sldMkLst>
        <pc:spChg chg="mod">
          <ac:chgData name="Rosti Andrea" userId="6c30d79c-f83e-4418-a790-470d7e6abfac" providerId="ADAL" clId="{7D20013B-56F6-4B72-9AF9-8D93888503DD}" dt="2026-08-27T16:47:43.765" v="40" actId="14100"/>
          <ac:spMkLst>
            <pc:docMk/>
            <pc:sldMk cId="250735234" sldId="2147480477"/>
            <ac:spMk id="4" creationId="{3CE47C56-91B8-B52B-4B18-8E37B2C5291C}"/>
          </ac:spMkLst>
        </pc:spChg>
        <pc:spChg chg="mod">
          <ac:chgData name="Rosti Andrea" userId="6c30d79c-f83e-4418-a790-470d7e6abfac" providerId="ADAL" clId="{7D20013B-56F6-4B72-9AF9-8D93888503DD}" dt="2026-08-27T16:47:54.418" v="43" actId="1076"/>
          <ac:spMkLst>
            <pc:docMk/>
            <pc:sldMk cId="250735234" sldId="2147480477"/>
            <ac:spMk id="9" creationId="{CD8B216D-D8F8-A04E-0E59-53F0776D0AA7}"/>
          </ac:spMkLst>
        </pc:spChg>
        <pc:spChg chg="mod">
          <ac:chgData name="Rosti Andrea" userId="6c30d79c-f83e-4418-a790-470d7e6abfac" providerId="ADAL" clId="{7D20013B-56F6-4B72-9AF9-8D93888503DD}" dt="2026-08-27T16:47:54.418" v="43" actId="1076"/>
          <ac:spMkLst>
            <pc:docMk/>
            <pc:sldMk cId="250735234" sldId="2147480477"/>
            <ac:spMk id="13" creationId="{D3E1018A-5498-6385-D0D2-ACC3BCC277A9}"/>
          </ac:spMkLst>
        </pc:spChg>
        <pc:spChg chg="mod">
          <ac:chgData name="Rosti Andrea" userId="6c30d79c-f83e-4418-a790-470d7e6abfac" providerId="ADAL" clId="{7D20013B-56F6-4B72-9AF9-8D93888503DD}" dt="2026-08-27T16:47:43.765" v="40" actId="14100"/>
          <ac:spMkLst>
            <pc:docMk/>
            <pc:sldMk cId="250735234" sldId="2147480477"/>
            <ac:spMk id="15" creationId="{19C0C05C-1692-7057-13AF-3C7DEFDFBBCA}"/>
          </ac:spMkLst>
        </pc:spChg>
        <pc:spChg chg="add mod">
          <ac:chgData name="Rosti Andrea" userId="6c30d79c-f83e-4418-a790-470d7e6abfac" providerId="ADAL" clId="{7D20013B-56F6-4B72-9AF9-8D93888503DD}" dt="2026-08-27T16:47:50.626" v="42" actId="1076"/>
          <ac:spMkLst>
            <pc:docMk/>
            <pc:sldMk cId="250735234" sldId="2147480477"/>
            <ac:spMk id="18" creationId="{3753DF9C-1F3D-0FE7-F453-ECAFAF135FDA}"/>
          </ac:spMkLst>
        </pc:spChg>
        <pc:spChg chg="add mod">
          <ac:chgData name="Rosti Andrea" userId="6c30d79c-f83e-4418-a790-470d7e6abfac" providerId="ADAL" clId="{7D20013B-56F6-4B72-9AF9-8D93888503DD}" dt="2026-08-27T16:47:50.626" v="42" actId="1076"/>
          <ac:spMkLst>
            <pc:docMk/>
            <pc:sldMk cId="250735234" sldId="2147480477"/>
            <ac:spMk id="20" creationId="{DF93891F-1AE8-887E-D6AF-53955CD579C7}"/>
          </ac:spMkLst>
        </pc:spChg>
      </pc:sldChg>
      <pc:sldChg chg="modSp add mod">
        <pc:chgData name="Rosti Andrea" userId="6c30d79c-f83e-4418-a790-470d7e6abfac" providerId="ADAL" clId="{7D20013B-56F6-4B72-9AF9-8D93888503DD}" dt="2026-08-27T16:49:48.260" v="48" actId="207"/>
        <pc:sldMkLst>
          <pc:docMk/>
          <pc:sldMk cId="2417981717" sldId="2147480478"/>
        </pc:sldMkLst>
        <pc:spChg chg="mod">
          <ac:chgData name="Rosti Andrea" userId="6c30d79c-f83e-4418-a790-470d7e6abfac" providerId="ADAL" clId="{7D20013B-56F6-4B72-9AF9-8D93888503DD}" dt="2026-08-27T16:49:45.497" v="47" actId="207"/>
          <ac:spMkLst>
            <pc:docMk/>
            <pc:sldMk cId="2417981717" sldId="2147480478"/>
            <ac:spMk id="18" creationId="{D61B809B-3150-AED5-4AFE-3173B600F5CA}"/>
          </ac:spMkLst>
        </pc:spChg>
        <pc:spChg chg="mod">
          <ac:chgData name="Rosti Andrea" userId="6c30d79c-f83e-4418-a790-470d7e6abfac" providerId="ADAL" clId="{7D20013B-56F6-4B72-9AF9-8D93888503DD}" dt="2026-08-27T16:49:45.497" v="47" actId="207"/>
          <ac:spMkLst>
            <pc:docMk/>
            <pc:sldMk cId="2417981717" sldId="2147480478"/>
            <ac:spMk id="19" creationId="{EABA993B-CB18-4B5E-51F8-2C88BA00A25C}"/>
          </ac:spMkLst>
        </pc:spChg>
        <pc:spChg chg="mod">
          <ac:chgData name="Rosti Andrea" userId="6c30d79c-f83e-4418-a790-470d7e6abfac" providerId="ADAL" clId="{7D20013B-56F6-4B72-9AF9-8D93888503DD}" dt="2026-08-27T16:49:48.260" v="48" actId="207"/>
          <ac:spMkLst>
            <pc:docMk/>
            <pc:sldMk cId="2417981717" sldId="2147480478"/>
            <ac:spMk id="23" creationId="{49A2CF0F-6AC6-52E2-50E2-E6D710E2B73C}"/>
          </ac:spMkLst>
        </pc:spChg>
        <pc:grpChg chg="mod">
          <ac:chgData name="Rosti Andrea" userId="6c30d79c-f83e-4418-a790-470d7e6abfac" providerId="ADAL" clId="{7D20013B-56F6-4B72-9AF9-8D93888503DD}" dt="2026-08-27T16:49:37.969" v="46" actId="1076"/>
          <ac:grpSpMkLst>
            <pc:docMk/>
            <pc:sldMk cId="2417981717" sldId="2147480478"/>
            <ac:grpSpMk id="17" creationId="{2BE4B063-813C-AD18-5D40-BAE60166A340}"/>
          </ac:grpSpMkLst>
        </pc:grpChg>
      </pc:sldChg>
      <pc:sldChg chg="modSp add mod">
        <pc:chgData name="Rosti Andrea" userId="6c30d79c-f83e-4418-a790-470d7e6abfac" providerId="ADAL" clId="{7D20013B-56F6-4B72-9AF9-8D93888503DD}" dt="2026-08-27T16:50:01.008" v="51" actId="207"/>
        <pc:sldMkLst>
          <pc:docMk/>
          <pc:sldMk cId="2944756753" sldId="2147480479"/>
        </pc:sldMkLst>
        <pc:spChg chg="mod">
          <ac:chgData name="Rosti Andrea" userId="6c30d79c-f83e-4418-a790-470d7e6abfac" providerId="ADAL" clId="{7D20013B-56F6-4B72-9AF9-8D93888503DD}" dt="2026-08-27T16:49:59.079" v="50" actId="207"/>
          <ac:spMkLst>
            <pc:docMk/>
            <pc:sldMk cId="2944756753" sldId="2147480479"/>
            <ac:spMk id="3" creationId="{EFC131F9-188B-9629-ECF8-0638BFD9AE55}"/>
          </ac:spMkLst>
        </pc:spChg>
        <pc:spChg chg="mod">
          <ac:chgData name="Rosti Andrea" userId="6c30d79c-f83e-4418-a790-470d7e6abfac" providerId="ADAL" clId="{7D20013B-56F6-4B72-9AF9-8D93888503DD}" dt="2026-08-27T16:49:59.079" v="50" actId="207"/>
          <ac:spMkLst>
            <pc:docMk/>
            <pc:sldMk cId="2944756753" sldId="2147480479"/>
            <ac:spMk id="5" creationId="{E88AAA73-70CF-DFA9-614B-8DE6DA568694}"/>
          </ac:spMkLst>
        </pc:spChg>
        <pc:spChg chg="mod">
          <ac:chgData name="Rosti Andrea" userId="6c30d79c-f83e-4418-a790-470d7e6abfac" providerId="ADAL" clId="{7D20013B-56F6-4B72-9AF9-8D93888503DD}" dt="2026-08-27T16:50:01.008" v="51" actId="207"/>
          <ac:spMkLst>
            <pc:docMk/>
            <pc:sldMk cId="2944756753" sldId="2147480479"/>
            <ac:spMk id="21" creationId="{B278F3E1-2A4D-FBC5-AF78-7BB21015F645}"/>
          </ac:spMkLst>
        </pc:spChg>
        <pc:spChg chg="mod">
          <ac:chgData name="Rosti Andrea" userId="6c30d79c-f83e-4418-a790-470d7e6abfac" providerId="ADAL" clId="{7D20013B-56F6-4B72-9AF9-8D93888503DD}" dt="2026-08-27T16:50:01.008" v="51" actId="207"/>
          <ac:spMkLst>
            <pc:docMk/>
            <pc:sldMk cId="2944756753" sldId="2147480479"/>
            <ac:spMk id="23" creationId="{90F12EC9-B674-CF0D-2B47-DE208AF7583E}"/>
          </ac:spMkLst>
        </pc:spChg>
      </pc:sldChg>
      <pc:sldChg chg="modSp add mod">
        <pc:chgData name="Rosti Andrea" userId="6c30d79c-f83e-4418-a790-470d7e6abfac" providerId="ADAL" clId="{7D20013B-56F6-4B72-9AF9-8D93888503DD}" dt="2026-08-27T16:50:09.329" v="53" actId="207"/>
        <pc:sldMkLst>
          <pc:docMk/>
          <pc:sldMk cId="2286680580" sldId="2147480480"/>
        </pc:sldMkLst>
        <pc:spChg chg="mod">
          <ac:chgData name="Rosti Andrea" userId="6c30d79c-f83e-4418-a790-470d7e6abfac" providerId="ADAL" clId="{7D20013B-56F6-4B72-9AF9-8D93888503DD}" dt="2026-08-27T16:50:09.329" v="53" actId="207"/>
          <ac:spMkLst>
            <pc:docMk/>
            <pc:sldMk cId="2286680580" sldId="2147480480"/>
            <ac:spMk id="3" creationId="{7042EC66-57CE-15E7-4EE7-AD20E5FC4F97}"/>
          </ac:spMkLst>
        </pc:spChg>
        <pc:spChg chg="mod">
          <ac:chgData name="Rosti Andrea" userId="6c30d79c-f83e-4418-a790-470d7e6abfac" providerId="ADAL" clId="{7D20013B-56F6-4B72-9AF9-8D93888503DD}" dt="2026-08-27T16:50:09.329" v="53" actId="207"/>
          <ac:spMkLst>
            <pc:docMk/>
            <pc:sldMk cId="2286680580" sldId="2147480480"/>
            <ac:spMk id="5" creationId="{35BB1390-CDD7-FC19-650B-AE5E0AC993D8}"/>
          </ac:spMkLst>
        </pc:spChg>
        <pc:spChg chg="mod">
          <ac:chgData name="Rosti Andrea" userId="6c30d79c-f83e-4418-a790-470d7e6abfac" providerId="ADAL" clId="{7D20013B-56F6-4B72-9AF9-8D93888503DD}" dt="2026-08-27T16:50:09.329" v="53" actId="207"/>
          <ac:spMkLst>
            <pc:docMk/>
            <pc:sldMk cId="2286680580" sldId="2147480480"/>
            <ac:spMk id="18" creationId="{BFBBB3DC-B1EB-F177-4700-537E021BE1F6}"/>
          </ac:spMkLst>
        </pc:spChg>
        <pc:spChg chg="mod">
          <ac:chgData name="Rosti Andrea" userId="6c30d79c-f83e-4418-a790-470d7e6abfac" providerId="ADAL" clId="{7D20013B-56F6-4B72-9AF9-8D93888503DD}" dt="2026-08-27T16:50:09.329" v="53" actId="207"/>
          <ac:spMkLst>
            <pc:docMk/>
            <pc:sldMk cId="2286680580" sldId="2147480480"/>
            <ac:spMk id="19" creationId="{85C114C1-9E81-6FAE-8449-382E4472587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7677813752252"/>
          <c:y val="0.13045986772757739"/>
          <c:w val="0.86476536033240847"/>
          <c:h val="0.7741748531999113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E46C0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Foglio1!$A$2:$A$5</c:f>
              <c:strCache>
                <c:ptCount val="4"/>
                <c:pt idx="0">
                  <c:v>0 - Pipeline</c:v>
                </c:pt>
                <c:pt idx="1">
                  <c:v>1 - In Corso</c:v>
                </c:pt>
                <c:pt idx="2">
                  <c:v>2 - Completate</c:v>
                </c:pt>
                <c:pt idx="3">
                  <c:v>3 - Annullate/Sospese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22-4D6F-8481-688327B3378E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BR</c:v>
                </c:pt>
              </c:strCache>
            </c:strRef>
          </c:tx>
          <c:spPr>
            <a:solidFill>
              <a:srgbClr val="1F497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Foglio1!$A$2:$A$5</c:f>
              <c:strCache>
                <c:ptCount val="4"/>
                <c:pt idx="0">
                  <c:v>0 - Pipeline</c:v>
                </c:pt>
                <c:pt idx="1">
                  <c:v>1 - In Corso</c:v>
                </c:pt>
                <c:pt idx="2">
                  <c:v>2 - Completate</c:v>
                </c:pt>
                <c:pt idx="3">
                  <c:v>3 - Annullate/Sospese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1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22-4D6F-8481-688327B3378E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HLD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Foglio1!$A$2:$A$5</c:f>
              <c:strCache>
                <c:ptCount val="4"/>
                <c:pt idx="0">
                  <c:v>0 - Pipeline</c:v>
                </c:pt>
                <c:pt idx="1">
                  <c:v>1 - In Corso</c:v>
                </c:pt>
                <c:pt idx="2">
                  <c:v>2 - Completate</c:v>
                </c:pt>
                <c:pt idx="3">
                  <c:v>3 - Annullate/Sospese</c:v>
                </c:pt>
              </c:strCache>
            </c:strRef>
          </c:cat>
          <c:val>
            <c:numRef>
              <c:f>Foglio1!$D$2:$D$5</c:f>
              <c:numCache>
                <c:formatCode>General</c:formatCode>
                <c:ptCount val="4"/>
                <c:pt idx="1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22-4D6F-8481-688327B3378E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LLD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0 - Pipeline</c:v>
                </c:pt>
                <c:pt idx="1">
                  <c:v>1 - In Corso</c:v>
                </c:pt>
                <c:pt idx="2">
                  <c:v>2 - Completate</c:v>
                </c:pt>
                <c:pt idx="3">
                  <c:v>3 - Annullate/Sospese</c:v>
                </c:pt>
              </c:strCache>
            </c:strRef>
          </c:cat>
          <c:val>
            <c:numRef>
              <c:f>Foglio1!$E$2:$E$5</c:f>
              <c:numCache>
                <c:formatCode>General</c:formatCode>
                <c:ptCount val="4"/>
                <c:pt idx="1">
                  <c:v>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AA-4B27-9CF7-DA86EFB294B8}"/>
            </c:ext>
          </c:extLst>
        </c:ser>
        <c:ser>
          <c:idx val="4"/>
          <c:order val="4"/>
          <c:tx>
            <c:strRef>
              <c:f>Foglio1!$F$1</c:f>
              <c:strCache>
                <c:ptCount val="1"/>
                <c:pt idx="0">
                  <c:v>Development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0 - Pipeline</c:v>
                </c:pt>
                <c:pt idx="1">
                  <c:v>1 - In Corso</c:v>
                </c:pt>
                <c:pt idx="2">
                  <c:v>2 - Completate</c:v>
                </c:pt>
                <c:pt idx="3">
                  <c:v>3 - Annullate/Sospese</c:v>
                </c:pt>
              </c:strCache>
            </c:strRef>
          </c:cat>
          <c:val>
            <c:numRef>
              <c:f>Foglio1!$F$2:$F$5</c:f>
              <c:numCache>
                <c:formatCode>General</c:formatCode>
                <c:ptCount val="4"/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FAA-4B27-9CF7-DA86EFB294B8}"/>
            </c:ext>
          </c:extLst>
        </c:ser>
        <c:ser>
          <c:idx val="5"/>
          <c:order val="5"/>
          <c:tx>
            <c:strRef>
              <c:f>Foglio1!$G$1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0 - Pipeline</c:v>
                </c:pt>
                <c:pt idx="1">
                  <c:v>1 - In Corso</c:v>
                </c:pt>
                <c:pt idx="2">
                  <c:v>2 - Completate</c:v>
                </c:pt>
                <c:pt idx="3">
                  <c:v>3 - Annullate/Sospese</c:v>
                </c:pt>
              </c:strCache>
            </c:strRef>
          </c:cat>
          <c:val>
            <c:numRef>
              <c:f>Foglio1!$G$2:$G$5</c:f>
              <c:numCache>
                <c:formatCode>General</c:formatCode>
                <c:ptCount val="4"/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AA-4B27-9CF7-DA86EFB294B8}"/>
            </c:ext>
          </c:extLst>
        </c:ser>
        <c:ser>
          <c:idx val="6"/>
          <c:order val="6"/>
          <c:tx>
            <c:strRef>
              <c:f>Foglio1!$H$1</c:f>
              <c:strCache>
                <c:ptCount val="1"/>
                <c:pt idx="0">
                  <c:v>Live</c:v>
                </c:pt>
              </c:strCache>
            </c:strRef>
          </c:tx>
          <c:spPr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0 - Pipeline</c:v>
                </c:pt>
                <c:pt idx="1">
                  <c:v>1 - In Corso</c:v>
                </c:pt>
                <c:pt idx="2">
                  <c:v>2 - Completate</c:v>
                </c:pt>
                <c:pt idx="3">
                  <c:v>3 - Annullate/Sospese</c:v>
                </c:pt>
              </c:strCache>
            </c:strRef>
          </c:cat>
          <c:val>
            <c:numRef>
              <c:f>Foglio1!$H$2:$H$5</c:f>
              <c:numCache>
                <c:formatCode>General</c:formatCode>
                <c:ptCount val="4"/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FAA-4B27-9CF7-DA86EFB294B8}"/>
            </c:ext>
          </c:extLst>
        </c:ser>
        <c:ser>
          <c:idx val="7"/>
          <c:order val="7"/>
          <c:tx>
            <c:strRef>
              <c:f>Foglio1!$I$1</c:f>
              <c:strCache>
                <c:ptCount val="1"/>
                <c:pt idx="0">
                  <c:v>Live ultimi 30 giorni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0 - Pipeline</c:v>
                </c:pt>
                <c:pt idx="1">
                  <c:v>1 - In Corso</c:v>
                </c:pt>
                <c:pt idx="2">
                  <c:v>2 - Completate</c:v>
                </c:pt>
                <c:pt idx="3">
                  <c:v>3 - Annullate/Sospese</c:v>
                </c:pt>
              </c:strCache>
            </c:strRef>
          </c:cat>
          <c:val>
            <c:numRef>
              <c:f>Foglio1!$I$2:$I$5</c:f>
              <c:numCache>
                <c:formatCode>General</c:formatCode>
                <c:ptCount val="4"/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FAA-4B27-9CF7-DA86EFB294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30610767"/>
        <c:axId val="1030607887"/>
      </c:barChart>
      <c:catAx>
        <c:axId val="10306107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pPr>
            <a:endParaRPr lang="it-IT"/>
          </a:p>
        </c:txPr>
        <c:crossAx val="1030607887"/>
        <c:crosses val="autoZero"/>
        <c:auto val="1"/>
        <c:lblAlgn val="ctr"/>
        <c:lblOffset val="100"/>
        <c:noMultiLvlLbl val="0"/>
      </c:catAx>
      <c:valAx>
        <c:axId val="1030607887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3061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2F5C51-2091-4014-84DB-D5AC47EB4A7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215DE-17D4-4BF5-8E33-0D77AE314D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58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0CD73-E51C-9B4E-9CD7-0D2C4D9476F7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6627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659D-387B-9F62-8F35-448A929F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30439-20B4-4F85-05B0-88EAA1425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77AD6-41AA-BC16-4D66-E5E606FE3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55F20-C83F-F749-660B-E348E7AC2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0CD73-E51C-9B4E-9CD7-0D2C4D9476F7}" type="slidenum">
              <a:rPr kumimoji="0" lang="it-IT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3537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7049B-AF32-4E48-9556-65228053B2C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553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0D2E0-7A30-B039-3798-D6493D2D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0523A-3718-1184-F5A5-80D0F6F7E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D084A-1A05-FDFC-ED8F-E6A7544F8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3B963-4B81-BBB9-1156-F1D79278A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7049B-AF32-4E48-9556-65228053B2C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233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F17D1-82CC-B817-CA7F-603B0708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996C3-4D94-FA8B-6C69-E8FCCE467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D7855-6B8F-ED8A-2D16-F0DA8D64E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07C77-319C-E0B1-C481-88E52D490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0CD73-E51C-9B4E-9CD7-0D2C4D9476F7}" type="slidenum">
              <a:rPr kumimoji="0" lang="it-IT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it-IT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302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14DD-1932-C239-1D8F-9A125F99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A5DA9-E67B-C025-D427-418D4CD21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156DC2-33B7-42CF-863B-C1050B1CD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3D953-3198-03DE-91C1-2613C205E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0CD73-E51C-9B4E-9CD7-0D2C4D9476F7}" type="slidenum">
              <a:rPr kumimoji="0" lang="it-IT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it-IT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0771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D5922-F7B2-E3E8-B4A2-268EC410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0389A-D1F4-6B6C-1FC0-979B0B30E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1E116-320B-44B7-592E-EA7C1D733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0FFA1-6DE7-F5D5-B3BD-78D436D56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70CD73-E51C-9B4E-9CD7-0D2C4D9476F7}" type="slidenum">
              <a:rPr kumimoji="0" lang="it-IT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it-IT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015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B8C43-B29E-A78C-5933-050D427D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F88A773-CB8A-2F23-CE0C-99DD30B95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9A7DDEA-7BE2-BCA9-9481-E990FE16C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A8FA03-A4CF-3831-0635-2F3D581D6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63D3D4-8013-47BE-975A-FCE5014ED2D8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163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ese.com/en/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Arce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BA7934C2-77B7-2117-C987-3E663C594D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3491433" y="1894241"/>
            <a:ext cx="8145348" cy="4584391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2D6444A9-AC55-1D16-61B7-2C7BC8BF1E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7" y="73260"/>
            <a:ext cx="8460505" cy="4759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8A0A2FD-3E67-6DC0-B152-4ED810EF4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858" y="4695422"/>
            <a:ext cx="5657125" cy="503917"/>
          </a:xfrm>
          <a:prstGeom prst="rect">
            <a:avLst/>
          </a:prstGeom>
        </p:spPr>
        <p:txBody>
          <a:bodyPr/>
          <a:lstStyle>
            <a:lvl1pPr algn="r">
              <a:defRPr sz="3275"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C7F52A0A-6550-1F9F-3DBB-8AA4FE3F0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5858" y="5227333"/>
            <a:ext cx="5657125" cy="37327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2425" b="0" i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endParaRPr lang="it-IT"/>
          </a:p>
        </p:txBody>
      </p:sp>
      <p:sp>
        <p:nvSpPr>
          <p:cNvPr id="4" name="Holder 3">
            <a:extLst>
              <a:ext uri="{FF2B5EF4-FFF2-40B4-BE49-F238E27FC236}">
                <a16:creationId xmlns:a16="http://schemas.microsoft.com/office/drawing/2014/main" id="{F1A95E74-AD52-6B67-E400-25AE2CA3D76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29454" y="5629440"/>
            <a:ext cx="3521149" cy="33594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2183" b="0" i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it-IT"/>
              <a:t>Data</a:t>
            </a:r>
          </a:p>
        </p:txBody>
      </p:sp>
      <p:pic>
        <p:nvPicPr>
          <p:cNvPr id="5" name="Immagine 4" descr="Immagine che contiene Carattere, Elementi grafici, simbolo, logo&#10;&#10;Il contenuto generato dall'IA potrebbe non essere corretto.">
            <a:extLst>
              <a:ext uri="{FF2B5EF4-FFF2-40B4-BE49-F238E27FC236}">
                <a16:creationId xmlns:a16="http://schemas.microsoft.com/office/drawing/2014/main" id="{62E53432-3EB4-3137-8843-7AF9E5A7960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202" y="976353"/>
            <a:ext cx="2183196" cy="59209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DAECEB3-51FB-8C02-D41D-F15FF56894F2}"/>
              </a:ext>
            </a:extLst>
          </p:cNvPr>
          <p:cNvSpPr txBox="1"/>
          <p:nvPr userDrawn="1"/>
        </p:nvSpPr>
        <p:spPr>
          <a:xfrm>
            <a:off x="2222217" y="1325950"/>
            <a:ext cx="768159" cy="316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56" i="1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move</a:t>
            </a:r>
            <a:r>
              <a:rPr lang="it-IT" sz="1456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it-IT" sz="1456" i="1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it</a:t>
            </a:r>
            <a:endParaRPr lang="it-IT" sz="1456" i="1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45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V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B6F81F1E-2A7B-7D95-5E35-AE970695AA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3491433" y="1894241"/>
            <a:ext cx="8145348" cy="4584391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7E8471A-C763-F1DE-50EA-BE5C26D415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7" y="73260"/>
            <a:ext cx="8460505" cy="4759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8A0A2FD-3E67-6DC0-B152-4ED810EF4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858" y="4695422"/>
            <a:ext cx="5657125" cy="503917"/>
          </a:xfrm>
          <a:prstGeom prst="rect">
            <a:avLst/>
          </a:prstGeom>
        </p:spPr>
        <p:txBody>
          <a:bodyPr/>
          <a:lstStyle>
            <a:lvl1pPr algn="r">
              <a:defRPr sz="3275"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C7F52A0A-6550-1F9F-3DBB-8AA4FE3F0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5858" y="5227333"/>
            <a:ext cx="5657125" cy="37327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2425" b="0" i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endParaRPr lang="it-IT"/>
          </a:p>
        </p:txBody>
      </p:sp>
      <p:sp>
        <p:nvSpPr>
          <p:cNvPr id="4" name="Holder 3">
            <a:extLst>
              <a:ext uri="{FF2B5EF4-FFF2-40B4-BE49-F238E27FC236}">
                <a16:creationId xmlns:a16="http://schemas.microsoft.com/office/drawing/2014/main" id="{F1A95E74-AD52-6B67-E400-25AE2CA3D76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29454" y="5629440"/>
            <a:ext cx="3521149" cy="33594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2183" b="0" i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it-IT"/>
              <a:t>Data</a:t>
            </a:r>
          </a:p>
        </p:txBody>
      </p:sp>
      <p:pic>
        <p:nvPicPr>
          <p:cNvPr id="5" name="Immagine 4" descr="Immagine che contiene testo, Carattere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5B20793E-77E1-19EE-F671-1FBEF31F014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" y="949815"/>
            <a:ext cx="2183196" cy="77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22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Arcese Group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60C7DA10-76E5-B209-20BF-01A90656D9DE}"/>
              </a:ext>
            </a:extLst>
          </p:cNvPr>
          <p:cNvSpPr/>
          <p:nvPr userDrawn="1"/>
        </p:nvSpPr>
        <p:spPr>
          <a:xfrm>
            <a:off x="156101" y="190132"/>
            <a:ext cx="11898421" cy="52393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5301" y="4715962"/>
            <a:ext cx="7422868" cy="567591"/>
          </a:xfrm>
          <a:prstGeom prst="rect">
            <a:avLst/>
          </a:prstGeom>
        </p:spPr>
        <p:txBody>
          <a:bodyPr lIns="0" tIns="0" rIns="0" bIns="0"/>
          <a:lstStyle>
            <a:lvl1pPr>
              <a:defRPr sz="3639" b="1" i="0">
                <a:solidFill>
                  <a:schemeClr val="bg1"/>
                </a:solidFill>
                <a:latin typeface="Roboto Condensed Black"/>
                <a:cs typeface="Roboto Condensed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1135299" y="5532041"/>
            <a:ext cx="7422868" cy="392948"/>
          </a:xfrm>
          <a:prstGeom prst="rect">
            <a:avLst/>
          </a:prstGeom>
        </p:spPr>
        <p:txBody>
          <a:bodyPr lIns="0" tIns="0" rIns="0" bIns="0"/>
          <a:lstStyle>
            <a:lvl1pPr>
              <a:defRPr sz="2425" b="0" i="0">
                <a:solidFill>
                  <a:schemeClr val="accent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it-IT"/>
              <a:t>Sottotitolo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C9260831-E857-1992-BB9F-86FF4E9388C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544535" y="6150931"/>
            <a:ext cx="2183196" cy="34928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2183" b="0" i="0">
                <a:solidFill>
                  <a:schemeClr val="accent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it-IT"/>
              <a:t>Data</a:t>
            </a:r>
          </a:p>
        </p:txBody>
      </p:sp>
      <p:pic>
        <p:nvPicPr>
          <p:cNvPr id="9" name="Picture 2" descr="C:\Users\PTattini\Desktop\Senza titolo-1.emf">
            <a:extLst>
              <a:ext uri="{FF2B5EF4-FFF2-40B4-BE49-F238E27FC236}">
                <a16:creationId xmlns:a16="http://schemas.microsoft.com/office/drawing/2014/main" id="{ED357A24-C7B8-38C3-FF0B-B38A157347A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24"/>
          <a:stretch/>
        </p:blipFill>
        <p:spPr bwMode="auto">
          <a:xfrm>
            <a:off x="1064792" y="513690"/>
            <a:ext cx="6200279" cy="183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3A9F4B5-D3A9-25EC-A06C-16ED641D70E8}"/>
              </a:ext>
            </a:extLst>
          </p:cNvPr>
          <p:cNvSpPr txBox="1"/>
          <p:nvPr userDrawn="1"/>
        </p:nvSpPr>
        <p:spPr>
          <a:xfrm>
            <a:off x="1135300" y="3541096"/>
            <a:ext cx="4038913" cy="1585306"/>
          </a:xfrm>
          <a:prstGeom prst="rect">
            <a:avLst/>
          </a:prstGeom>
          <a:noFill/>
          <a:ln w="76200" cap="sq">
            <a:solidFill>
              <a:schemeClr val="bg1"/>
            </a:solidFill>
            <a:miter lim="800000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4851" b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ARCESE GROUP</a:t>
            </a:r>
          </a:p>
        </p:txBody>
      </p:sp>
    </p:spTree>
    <p:extLst>
      <p:ext uri="{BB962C8B-B14F-4D97-AF65-F5344CB8AC3E}">
        <p14:creationId xmlns:p14="http://schemas.microsoft.com/office/powerpoint/2010/main" val="173375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ese_Content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153ECCA-172A-2EE5-386A-4F188648CD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345" y="6255132"/>
            <a:ext cx="1008299" cy="567493"/>
          </a:xfrm>
          <a:prstGeom prst="rect">
            <a:avLst/>
          </a:prstGeom>
        </p:spPr>
      </p:pic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E9FE9DA6-44B4-B5EA-DD55-CB7FBD190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444" y="6447508"/>
            <a:ext cx="432000" cy="38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3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03F3B942-8D34-44F8-88C7-498198B89D0D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8BC6493-E777-9CFB-4743-6364722355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0108" y="116163"/>
            <a:ext cx="1521129" cy="856127"/>
          </a:xfrm>
          <a:prstGeom prst="rect">
            <a:avLst/>
          </a:prstGeom>
        </p:spPr>
      </p:pic>
      <p:pic>
        <p:nvPicPr>
          <p:cNvPr id="6" name="Immagine 5" descr="Immagine che contiene Carattere, Elementi grafici, simbolo, logo&#10;&#10;Il contenuto generato dall'IA potrebbe non essere corretto.">
            <a:extLst>
              <a:ext uri="{FF2B5EF4-FFF2-40B4-BE49-F238E27FC236}">
                <a16:creationId xmlns:a16="http://schemas.microsoft.com/office/drawing/2014/main" id="{F3BA0420-1B2B-89EC-036A-93E8D76A52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962" y="303239"/>
            <a:ext cx="764119" cy="207235"/>
          </a:xfrm>
          <a:prstGeom prst="rect">
            <a:avLst/>
          </a:prstGeom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8FB1DB04-9722-ADB2-A3E5-1A49D85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28" y="364853"/>
            <a:ext cx="10370184" cy="567591"/>
          </a:xfrm>
          <a:prstGeom prst="rect">
            <a:avLst/>
          </a:prstGeom>
        </p:spPr>
        <p:txBody>
          <a:bodyPr lIns="0" tIns="0" rIns="0" bIns="0"/>
          <a:lstStyle>
            <a:lvl1pPr>
              <a:defRPr sz="3733" b="1">
                <a:solidFill>
                  <a:schemeClr val="accent1"/>
                </a:solidFill>
                <a:latin typeface="Roboto Condensed Black"/>
              </a:defRPr>
            </a:lvl1pPr>
          </a:lstStyle>
          <a:p>
            <a:endParaRPr lang="it-IT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C1F5DA9E-C296-1C6A-2CC5-C5561EEE64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3228" y="1304977"/>
            <a:ext cx="11243461" cy="48026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" name="Segnaposto piè di pagina 3">
            <a:extLst>
              <a:ext uri="{FF2B5EF4-FFF2-40B4-BE49-F238E27FC236}">
                <a16:creationId xmlns:a16="http://schemas.microsoft.com/office/drawing/2014/main" id="{94B67195-CE6D-6FC0-2FDA-AD45DA7C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15670" y="6355519"/>
            <a:ext cx="10261023" cy="458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812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S_Content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153ECCA-172A-2EE5-386A-4F188648CD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345" y="6255132"/>
            <a:ext cx="1008299" cy="567493"/>
          </a:xfrm>
          <a:prstGeom prst="rect">
            <a:avLst/>
          </a:prstGeom>
        </p:spPr>
      </p:pic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E9FE9DA6-44B4-B5EA-DD55-CB7FBD190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444" y="6447508"/>
            <a:ext cx="432000" cy="38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3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03F3B942-8D34-44F8-88C7-498198B89D0D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8BC6493-E777-9CFB-4743-6364722355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0108" y="116163"/>
            <a:ext cx="1521129" cy="856127"/>
          </a:xfrm>
          <a:prstGeom prst="rect">
            <a:avLst/>
          </a:prstGeom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8FB1DB04-9722-ADB2-A3E5-1A49D85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28" y="364853"/>
            <a:ext cx="10370184" cy="567591"/>
          </a:xfrm>
          <a:prstGeom prst="rect">
            <a:avLst/>
          </a:prstGeom>
        </p:spPr>
        <p:txBody>
          <a:bodyPr lIns="0" tIns="0" rIns="0" bIns="0"/>
          <a:lstStyle>
            <a:lvl1pPr>
              <a:defRPr lang="it-IT" sz="3733" b="1" dirty="0">
                <a:solidFill>
                  <a:schemeClr val="accent1"/>
                </a:solidFill>
                <a:latin typeface="Roboto Condensed Black"/>
                <a:ea typeface="+mj-ea"/>
                <a:cs typeface="+mj-cs"/>
              </a:defRPr>
            </a:lvl1pPr>
          </a:lstStyle>
          <a:p>
            <a:endParaRPr lang="it-IT"/>
          </a:p>
        </p:txBody>
      </p:sp>
      <p:sp>
        <p:nvSpPr>
          <p:cNvPr id="9" name="Segnaposto piè di pagina 3">
            <a:extLst>
              <a:ext uri="{FF2B5EF4-FFF2-40B4-BE49-F238E27FC236}">
                <a16:creationId xmlns:a16="http://schemas.microsoft.com/office/drawing/2014/main" id="{42219917-960D-1AAD-7105-ABC0774A7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15670" y="6355519"/>
            <a:ext cx="10261023" cy="458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pic>
        <p:nvPicPr>
          <p:cNvPr id="2" name="Immagine 1" descr="Immagine che contiene testo, Carattere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897FAF85-4A3A-381F-FDD3-D33C3E8CF38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962" y="273264"/>
            <a:ext cx="764119" cy="270960"/>
          </a:xfrm>
          <a:prstGeom prst="rect">
            <a:avLst/>
          </a:prstGeom>
        </p:spPr>
      </p:pic>
      <p:sp>
        <p:nvSpPr>
          <p:cNvPr id="6" name="Segnaposto testo 10">
            <a:extLst>
              <a:ext uri="{FF2B5EF4-FFF2-40B4-BE49-F238E27FC236}">
                <a16:creationId xmlns:a16="http://schemas.microsoft.com/office/drawing/2014/main" id="{6C5F780C-EC51-9159-4ECC-94DA6AB84E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3228" y="1304977"/>
            <a:ext cx="11243461" cy="48026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60627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153ECCA-172A-2EE5-386A-4F188648CD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345" y="6255132"/>
            <a:ext cx="1008299" cy="567493"/>
          </a:xfrm>
          <a:prstGeom prst="rect">
            <a:avLst/>
          </a:prstGeom>
        </p:spPr>
      </p:pic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E9FE9DA6-44B4-B5EA-DD55-CB7FBD190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444" y="6447508"/>
            <a:ext cx="432000" cy="38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3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03F3B942-8D34-44F8-88C7-498198B89D0D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8FB1DB04-9722-ADB2-A3E5-1A49D85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28" y="364853"/>
            <a:ext cx="11243461" cy="567591"/>
          </a:xfrm>
          <a:prstGeom prst="rect">
            <a:avLst/>
          </a:prstGeom>
        </p:spPr>
        <p:txBody>
          <a:bodyPr lIns="0" tIns="0" rIns="0" bIns="0"/>
          <a:lstStyle>
            <a:lvl1pPr>
              <a:defRPr lang="it-IT" sz="3733" b="1" dirty="0">
                <a:solidFill>
                  <a:schemeClr val="accent1"/>
                </a:solidFill>
                <a:latin typeface="Roboto Condensed Black"/>
                <a:ea typeface="+mj-ea"/>
                <a:cs typeface="+mj-cs"/>
              </a:defRPr>
            </a:lvl1pPr>
          </a:lstStyle>
          <a:p>
            <a:endParaRPr lang="it-IT"/>
          </a:p>
        </p:txBody>
      </p:sp>
      <p:sp>
        <p:nvSpPr>
          <p:cNvPr id="2" name="Segnaposto testo 10">
            <a:extLst>
              <a:ext uri="{FF2B5EF4-FFF2-40B4-BE49-F238E27FC236}">
                <a16:creationId xmlns:a16="http://schemas.microsoft.com/office/drawing/2014/main" id="{046C9E1C-C284-8904-35DB-88D2D459D1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3228" y="1304977"/>
            <a:ext cx="11243461" cy="48026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3">
            <a:extLst>
              <a:ext uri="{FF2B5EF4-FFF2-40B4-BE49-F238E27FC236}">
                <a16:creationId xmlns:a16="http://schemas.microsoft.com/office/drawing/2014/main" id="{226CC95F-9CF4-A100-7D16-AE8FD7C99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15670" y="6355519"/>
            <a:ext cx="10261023" cy="458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371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as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45EC0933-B7B0-BA6B-0040-30E495EC60AB}"/>
              </a:ext>
            </a:extLst>
          </p:cNvPr>
          <p:cNvSpPr/>
          <p:nvPr userDrawn="1"/>
        </p:nvSpPr>
        <p:spPr>
          <a:xfrm>
            <a:off x="3" y="0"/>
            <a:ext cx="56607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E9FE9DA6-44B4-B5EA-DD55-CB7FBD190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444" y="6447508"/>
            <a:ext cx="432000" cy="38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03F3B942-8D34-44F8-88C7-498198B89D0D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8FB1DB04-9722-ADB2-A3E5-1A49D85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714" y="364853"/>
            <a:ext cx="10261023" cy="559908"/>
          </a:xfrm>
          <a:prstGeom prst="rect">
            <a:avLst/>
          </a:prstGeom>
        </p:spPr>
        <p:txBody>
          <a:bodyPr lIns="0" tIns="0" rIns="0" bIns="0"/>
          <a:lstStyle>
            <a:lvl1pPr>
              <a:defRPr lang="it-IT" sz="3733" b="1" dirty="0">
                <a:solidFill>
                  <a:schemeClr val="accent1"/>
                </a:solidFill>
                <a:latin typeface="Roboto Condensed Black"/>
                <a:ea typeface="+mj-ea"/>
                <a:cs typeface="+mj-cs"/>
              </a:defRPr>
            </a:lvl1pPr>
          </a:lstStyle>
          <a:p>
            <a:endParaRPr lang="it-IT"/>
          </a:p>
        </p:txBody>
      </p:sp>
      <p:sp>
        <p:nvSpPr>
          <p:cNvPr id="9" name="Segnaposto piè di pagina 3">
            <a:extLst>
              <a:ext uri="{FF2B5EF4-FFF2-40B4-BE49-F238E27FC236}">
                <a16:creationId xmlns:a16="http://schemas.microsoft.com/office/drawing/2014/main" id="{42219917-960D-1AAD-7105-ABC0774A7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53715" y="6356457"/>
            <a:ext cx="10261023" cy="4559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testo 10">
            <a:extLst>
              <a:ext uri="{FF2B5EF4-FFF2-40B4-BE49-F238E27FC236}">
                <a16:creationId xmlns:a16="http://schemas.microsoft.com/office/drawing/2014/main" id="{8EB9C500-E1A4-823F-D0A1-44C0DE6C7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3715" y="1329436"/>
            <a:ext cx="10261023" cy="4769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3" name="Segnaposto testo 11">
            <a:extLst>
              <a:ext uri="{FF2B5EF4-FFF2-40B4-BE49-F238E27FC236}">
                <a16:creationId xmlns:a16="http://schemas.microsoft.com/office/drawing/2014/main" id="{176BBE4D-556A-38C3-B1B8-1E75A40DF3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-808483" y="4891489"/>
            <a:ext cx="2183043" cy="261984"/>
          </a:xfrm>
          <a:prstGeom prst="rect">
            <a:avLst/>
          </a:prstGeom>
        </p:spPr>
        <p:txBody>
          <a:bodyPr/>
          <a:lstStyle>
            <a:lvl1pPr>
              <a:defRPr sz="1213">
                <a:latin typeface="+mn-lt"/>
              </a:defRPr>
            </a:lvl1pPr>
          </a:lstStyle>
          <a:p>
            <a:r>
              <a:rPr lang="it-IT" sz="1092" b="1">
                <a:solidFill>
                  <a:schemeClr val="accent1"/>
                </a:solidFill>
                <a:latin typeface="+mj-lt"/>
              </a:rPr>
              <a:t>PRESENTATION TITLE</a:t>
            </a:r>
          </a:p>
        </p:txBody>
      </p:sp>
      <p:sp>
        <p:nvSpPr>
          <p:cNvPr id="16" name="Segnaposto testo 14">
            <a:extLst>
              <a:ext uri="{FF2B5EF4-FFF2-40B4-BE49-F238E27FC236}">
                <a16:creationId xmlns:a16="http://schemas.microsoft.com/office/drawing/2014/main" id="{55BD4614-4839-92F1-C922-188879EF61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-1245089" y="2030844"/>
            <a:ext cx="3056260" cy="261984"/>
          </a:xfrm>
          <a:prstGeom prst="rect">
            <a:avLst/>
          </a:prstGeom>
        </p:spPr>
        <p:txBody>
          <a:bodyPr/>
          <a:lstStyle>
            <a:lvl1pPr>
              <a:defRPr sz="1067"/>
            </a:lvl1pPr>
          </a:lstStyle>
          <a:p>
            <a:r>
              <a:rPr lang="it-IT" sz="1092" b="1">
                <a:solidFill>
                  <a:schemeClr val="accent6"/>
                </a:solidFill>
                <a:latin typeface="+mj-lt"/>
              </a:rPr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87775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153ECCA-172A-2EE5-386A-4F188648CD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345" y="6255132"/>
            <a:ext cx="1008299" cy="567493"/>
          </a:xfrm>
          <a:prstGeom prst="rect">
            <a:avLst/>
          </a:prstGeom>
        </p:spPr>
      </p:pic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E9FE9DA6-44B4-B5EA-DD55-CB7FBD190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444" y="6447508"/>
            <a:ext cx="432000" cy="38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3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03F3B942-8D34-44F8-88C7-498198B89D0D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8FB1DB04-9722-ADB2-A3E5-1A49D85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28" y="364853"/>
            <a:ext cx="11140059" cy="559908"/>
          </a:xfrm>
          <a:prstGeom prst="rect">
            <a:avLst/>
          </a:prstGeom>
        </p:spPr>
        <p:txBody>
          <a:bodyPr lIns="0" tIns="0" rIns="0" bIns="0"/>
          <a:lstStyle>
            <a:lvl1pPr>
              <a:defRPr lang="it-IT" sz="3733" b="1" dirty="0">
                <a:solidFill>
                  <a:schemeClr val="accent1"/>
                </a:solidFill>
                <a:latin typeface="Roboto Condensed Black"/>
                <a:ea typeface="+mj-ea"/>
                <a:cs typeface="+mj-cs"/>
              </a:defRPr>
            </a:lvl1pPr>
          </a:lstStyle>
          <a:p>
            <a:endParaRPr lang="it-IT"/>
          </a:p>
        </p:txBody>
      </p:sp>
      <p:sp>
        <p:nvSpPr>
          <p:cNvPr id="9" name="Segnaposto piè di pagina 3">
            <a:extLst>
              <a:ext uri="{FF2B5EF4-FFF2-40B4-BE49-F238E27FC236}">
                <a16:creationId xmlns:a16="http://schemas.microsoft.com/office/drawing/2014/main" id="{42219917-960D-1AAD-7105-ABC0774A7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53713" y="6356457"/>
            <a:ext cx="10219575" cy="4559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grpSp>
        <p:nvGrpSpPr>
          <p:cNvPr id="2" name="Group 28">
            <a:extLst>
              <a:ext uri="{FF2B5EF4-FFF2-40B4-BE49-F238E27FC236}">
                <a16:creationId xmlns:a16="http://schemas.microsoft.com/office/drawing/2014/main" id="{CECA32F2-1AE7-E5BB-C607-9AFD09A74AC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80673" y="1163666"/>
            <a:ext cx="10430663" cy="5192788"/>
            <a:chOff x="-2508" y="-1001"/>
            <a:chExt cx="12698" cy="6322"/>
          </a:xfrm>
          <a:solidFill>
            <a:schemeClr val="bg1">
              <a:lumMod val="65000"/>
              <a:alpha val="16000"/>
            </a:schemeClr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627272D1-28B0-D952-97BC-FA3E1FD2E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 30">
              <a:extLst>
                <a:ext uri="{FF2B5EF4-FFF2-40B4-BE49-F238E27FC236}">
                  <a16:creationId xmlns:a16="http://schemas.microsoft.com/office/drawing/2014/main" id="{766EC18A-9152-456F-32A5-F4AB22FFA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 31">
              <a:extLst>
                <a:ext uri="{FF2B5EF4-FFF2-40B4-BE49-F238E27FC236}">
                  <a16:creationId xmlns:a16="http://schemas.microsoft.com/office/drawing/2014/main" id="{6B1FE589-3030-D164-7B6B-E296802A3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59AB0F01-E362-CCF5-C0D0-95E2AF272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85E5D35E-67EC-12F7-D11D-9A7FBBAC4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F58CB1CC-AE1F-2990-B6DC-CC53C58EC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049F2AB4-B535-EDE5-AEE7-20FC56935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36">
              <a:extLst>
                <a:ext uri="{FF2B5EF4-FFF2-40B4-BE49-F238E27FC236}">
                  <a16:creationId xmlns:a16="http://schemas.microsoft.com/office/drawing/2014/main" id="{625DF69B-C287-812E-3398-A5C438401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9C846CC7-135D-2FDE-600F-B368F4B3D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38">
              <a:extLst>
                <a:ext uri="{FF2B5EF4-FFF2-40B4-BE49-F238E27FC236}">
                  <a16:creationId xmlns:a16="http://schemas.microsoft.com/office/drawing/2014/main" id="{5EA774F5-5AFB-2CE4-BDA8-08C94F80D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39">
              <a:extLst>
                <a:ext uri="{FF2B5EF4-FFF2-40B4-BE49-F238E27FC236}">
                  <a16:creationId xmlns:a16="http://schemas.microsoft.com/office/drawing/2014/main" id="{3A3849DF-E014-F94D-9001-78FA0AC08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42CB9BF9-44C1-EAA2-C3AA-5BCB453AC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956D624-E744-E56B-E1F7-EE9F4A540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DB60C0A9-BD2E-6CCD-5499-4A1D4187A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69223BCB-D867-DB5D-0E5F-39E24C252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44">
              <a:extLst>
                <a:ext uri="{FF2B5EF4-FFF2-40B4-BE49-F238E27FC236}">
                  <a16:creationId xmlns:a16="http://schemas.microsoft.com/office/drawing/2014/main" id="{3C377F5C-6B53-98A2-21F5-13CEC174D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45">
              <a:extLst>
                <a:ext uri="{FF2B5EF4-FFF2-40B4-BE49-F238E27FC236}">
                  <a16:creationId xmlns:a16="http://schemas.microsoft.com/office/drawing/2014/main" id="{1217AAF3-9A67-4470-0681-64AAB26B0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46">
              <a:extLst>
                <a:ext uri="{FF2B5EF4-FFF2-40B4-BE49-F238E27FC236}">
                  <a16:creationId xmlns:a16="http://schemas.microsoft.com/office/drawing/2014/main" id="{DC84D309-8F04-96E2-1409-859D94BFF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47">
              <a:extLst>
                <a:ext uri="{FF2B5EF4-FFF2-40B4-BE49-F238E27FC236}">
                  <a16:creationId xmlns:a16="http://schemas.microsoft.com/office/drawing/2014/main" id="{F1F67D65-D26A-5685-1E72-B9E0251382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48">
              <a:extLst>
                <a:ext uri="{FF2B5EF4-FFF2-40B4-BE49-F238E27FC236}">
                  <a16:creationId xmlns:a16="http://schemas.microsoft.com/office/drawing/2014/main" id="{731D90D4-B658-8EC4-38E6-E24D3E7CF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49">
              <a:extLst>
                <a:ext uri="{FF2B5EF4-FFF2-40B4-BE49-F238E27FC236}">
                  <a16:creationId xmlns:a16="http://schemas.microsoft.com/office/drawing/2014/main" id="{CFF9454A-18A6-48A9-E790-EE1EF434E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50">
              <a:extLst>
                <a:ext uri="{FF2B5EF4-FFF2-40B4-BE49-F238E27FC236}">
                  <a16:creationId xmlns:a16="http://schemas.microsoft.com/office/drawing/2014/main" id="{AA1AC50A-BB7E-CF73-7B40-594653E43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51">
              <a:extLst>
                <a:ext uri="{FF2B5EF4-FFF2-40B4-BE49-F238E27FC236}">
                  <a16:creationId xmlns:a16="http://schemas.microsoft.com/office/drawing/2014/main" id="{6BF6BA87-2847-62A7-31B2-807A9ADC2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52">
              <a:extLst>
                <a:ext uri="{FF2B5EF4-FFF2-40B4-BE49-F238E27FC236}">
                  <a16:creationId xmlns:a16="http://schemas.microsoft.com/office/drawing/2014/main" id="{4FE88EAA-C225-24C9-E073-A3BAAB971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53">
              <a:extLst>
                <a:ext uri="{FF2B5EF4-FFF2-40B4-BE49-F238E27FC236}">
                  <a16:creationId xmlns:a16="http://schemas.microsoft.com/office/drawing/2014/main" id="{A94FBFB7-E865-FFBA-8920-E2AE4BD47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54">
              <a:extLst>
                <a:ext uri="{FF2B5EF4-FFF2-40B4-BE49-F238E27FC236}">
                  <a16:creationId xmlns:a16="http://schemas.microsoft.com/office/drawing/2014/main" id="{0AE46EE2-72F1-324B-F5B6-7C602501E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55">
              <a:extLst>
                <a:ext uri="{FF2B5EF4-FFF2-40B4-BE49-F238E27FC236}">
                  <a16:creationId xmlns:a16="http://schemas.microsoft.com/office/drawing/2014/main" id="{A3A1B23F-4B06-D618-82BA-049D748B14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56">
              <a:extLst>
                <a:ext uri="{FF2B5EF4-FFF2-40B4-BE49-F238E27FC236}">
                  <a16:creationId xmlns:a16="http://schemas.microsoft.com/office/drawing/2014/main" id="{97D6CC16-85C7-7C3A-A655-F949D6805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57">
              <a:extLst>
                <a:ext uri="{FF2B5EF4-FFF2-40B4-BE49-F238E27FC236}">
                  <a16:creationId xmlns:a16="http://schemas.microsoft.com/office/drawing/2014/main" id="{0C10F19E-8CDA-0721-AD5C-2C67C0C4A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58">
              <a:extLst>
                <a:ext uri="{FF2B5EF4-FFF2-40B4-BE49-F238E27FC236}">
                  <a16:creationId xmlns:a16="http://schemas.microsoft.com/office/drawing/2014/main" id="{D08A4CBA-F347-F5C0-E72D-6A5FB4D66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59">
              <a:extLst>
                <a:ext uri="{FF2B5EF4-FFF2-40B4-BE49-F238E27FC236}">
                  <a16:creationId xmlns:a16="http://schemas.microsoft.com/office/drawing/2014/main" id="{9F059D94-BD04-B0B9-4D74-771265004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4D3FA780-BF31-4371-9BB7-5EFA2F1BC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61">
              <a:extLst>
                <a:ext uri="{FF2B5EF4-FFF2-40B4-BE49-F238E27FC236}">
                  <a16:creationId xmlns:a16="http://schemas.microsoft.com/office/drawing/2014/main" id="{D3A97216-9915-C2C5-7B8A-ED5B6A235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62">
              <a:extLst>
                <a:ext uri="{FF2B5EF4-FFF2-40B4-BE49-F238E27FC236}">
                  <a16:creationId xmlns:a16="http://schemas.microsoft.com/office/drawing/2014/main" id="{02A42AF2-8E61-29B9-4A69-99863EE8A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63">
              <a:extLst>
                <a:ext uri="{FF2B5EF4-FFF2-40B4-BE49-F238E27FC236}">
                  <a16:creationId xmlns:a16="http://schemas.microsoft.com/office/drawing/2014/main" id="{FA6684E1-AAF6-5A42-328F-239A1D985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64">
              <a:extLst>
                <a:ext uri="{FF2B5EF4-FFF2-40B4-BE49-F238E27FC236}">
                  <a16:creationId xmlns:a16="http://schemas.microsoft.com/office/drawing/2014/main" id="{098F66A4-2F7C-900D-37D4-2404C9028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65">
              <a:extLst>
                <a:ext uri="{FF2B5EF4-FFF2-40B4-BE49-F238E27FC236}">
                  <a16:creationId xmlns:a16="http://schemas.microsoft.com/office/drawing/2014/main" id="{91C3ADDC-E66E-E0AB-58CF-23C31132B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66">
              <a:extLst>
                <a:ext uri="{FF2B5EF4-FFF2-40B4-BE49-F238E27FC236}">
                  <a16:creationId xmlns:a16="http://schemas.microsoft.com/office/drawing/2014/main" id="{0166D04F-7052-C067-7D6A-12FB34011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67">
              <a:extLst>
                <a:ext uri="{FF2B5EF4-FFF2-40B4-BE49-F238E27FC236}">
                  <a16:creationId xmlns:a16="http://schemas.microsoft.com/office/drawing/2014/main" id="{04C87359-5681-D40F-F186-46E09D0B7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68">
              <a:extLst>
                <a:ext uri="{FF2B5EF4-FFF2-40B4-BE49-F238E27FC236}">
                  <a16:creationId xmlns:a16="http://schemas.microsoft.com/office/drawing/2014/main" id="{BF3E0F5D-05AF-EF56-0F6A-ED8BDFB68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69">
              <a:extLst>
                <a:ext uri="{FF2B5EF4-FFF2-40B4-BE49-F238E27FC236}">
                  <a16:creationId xmlns:a16="http://schemas.microsoft.com/office/drawing/2014/main" id="{3C6EE10C-AEF6-C385-864E-44026EF20A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70">
              <a:extLst>
                <a:ext uri="{FF2B5EF4-FFF2-40B4-BE49-F238E27FC236}">
                  <a16:creationId xmlns:a16="http://schemas.microsoft.com/office/drawing/2014/main" id="{15DAC4CC-AFB4-309E-4C27-8D83E79FF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71">
              <a:extLst>
                <a:ext uri="{FF2B5EF4-FFF2-40B4-BE49-F238E27FC236}">
                  <a16:creationId xmlns:a16="http://schemas.microsoft.com/office/drawing/2014/main" id="{4AC1A96D-733A-DE2B-565E-E503D06D9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72">
              <a:extLst>
                <a:ext uri="{FF2B5EF4-FFF2-40B4-BE49-F238E27FC236}">
                  <a16:creationId xmlns:a16="http://schemas.microsoft.com/office/drawing/2014/main" id="{E347CC52-E175-CD4E-CDAB-C1137161D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73">
              <a:extLst>
                <a:ext uri="{FF2B5EF4-FFF2-40B4-BE49-F238E27FC236}">
                  <a16:creationId xmlns:a16="http://schemas.microsoft.com/office/drawing/2014/main" id="{2B0373F3-97D4-63C0-ED86-1CC08B587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74">
              <a:extLst>
                <a:ext uri="{FF2B5EF4-FFF2-40B4-BE49-F238E27FC236}">
                  <a16:creationId xmlns:a16="http://schemas.microsoft.com/office/drawing/2014/main" id="{F5A5FAA0-E485-32D5-8482-1CF2DDC4A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 75">
              <a:extLst>
                <a:ext uri="{FF2B5EF4-FFF2-40B4-BE49-F238E27FC236}">
                  <a16:creationId xmlns:a16="http://schemas.microsoft.com/office/drawing/2014/main" id="{E62C094C-4A7F-F7B2-9F0B-86D34CA90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 76">
              <a:extLst>
                <a:ext uri="{FF2B5EF4-FFF2-40B4-BE49-F238E27FC236}">
                  <a16:creationId xmlns:a16="http://schemas.microsoft.com/office/drawing/2014/main" id="{90FF0A40-D40D-182F-191A-03F57298B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77">
              <a:extLst>
                <a:ext uri="{FF2B5EF4-FFF2-40B4-BE49-F238E27FC236}">
                  <a16:creationId xmlns:a16="http://schemas.microsoft.com/office/drawing/2014/main" id="{7530D2D9-7716-D5D7-0AAC-44E085ABA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78">
              <a:extLst>
                <a:ext uri="{FF2B5EF4-FFF2-40B4-BE49-F238E27FC236}">
                  <a16:creationId xmlns:a16="http://schemas.microsoft.com/office/drawing/2014/main" id="{7EC0AA9C-6283-98AA-9B64-AEB570F93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79">
              <a:extLst>
                <a:ext uri="{FF2B5EF4-FFF2-40B4-BE49-F238E27FC236}">
                  <a16:creationId xmlns:a16="http://schemas.microsoft.com/office/drawing/2014/main" id="{F9D46DC7-AC34-41A4-F39A-2F160441F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80">
              <a:extLst>
                <a:ext uri="{FF2B5EF4-FFF2-40B4-BE49-F238E27FC236}">
                  <a16:creationId xmlns:a16="http://schemas.microsoft.com/office/drawing/2014/main" id="{AF6D037D-2859-D1B8-1798-8A54C40D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 81">
              <a:extLst>
                <a:ext uri="{FF2B5EF4-FFF2-40B4-BE49-F238E27FC236}">
                  <a16:creationId xmlns:a16="http://schemas.microsoft.com/office/drawing/2014/main" id="{13FF821B-94ED-A959-5BD9-DEE299DB2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 82">
              <a:extLst>
                <a:ext uri="{FF2B5EF4-FFF2-40B4-BE49-F238E27FC236}">
                  <a16:creationId xmlns:a16="http://schemas.microsoft.com/office/drawing/2014/main" id="{225B6765-43B1-18CC-2402-BA31AD463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 83">
              <a:extLst>
                <a:ext uri="{FF2B5EF4-FFF2-40B4-BE49-F238E27FC236}">
                  <a16:creationId xmlns:a16="http://schemas.microsoft.com/office/drawing/2014/main" id="{E5B0FC8C-5053-9EE5-21F5-2AA3C1424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84">
              <a:extLst>
                <a:ext uri="{FF2B5EF4-FFF2-40B4-BE49-F238E27FC236}">
                  <a16:creationId xmlns:a16="http://schemas.microsoft.com/office/drawing/2014/main" id="{74D16578-9EF7-5A2E-1AEE-C567ECECB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85">
              <a:extLst>
                <a:ext uri="{FF2B5EF4-FFF2-40B4-BE49-F238E27FC236}">
                  <a16:creationId xmlns:a16="http://schemas.microsoft.com/office/drawing/2014/main" id="{762F6285-5027-E329-4B1C-B5F09198A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86">
              <a:extLst>
                <a:ext uri="{FF2B5EF4-FFF2-40B4-BE49-F238E27FC236}">
                  <a16:creationId xmlns:a16="http://schemas.microsoft.com/office/drawing/2014/main" id="{0C451E76-45D9-C7C1-714C-2A226B3D1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87">
              <a:extLst>
                <a:ext uri="{FF2B5EF4-FFF2-40B4-BE49-F238E27FC236}">
                  <a16:creationId xmlns:a16="http://schemas.microsoft.com/office/drawing/2014/main" id="{3221776C-E174-AEDA-EAF5-54AF836CE8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88">
              <a:extLst>
                <a:ext uri="{FF2B5EF4-FFF2-40B4-BE49-F238E27FC236}">
                  <a16:creationId xmlns:a16="http://schemas.microsoft.com/office/drawing/2014/main" id="{E5835C84-3191-7093-2615-FB316AF66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89">
              <a:extLst>
                <a:ext uri="{FF2B5EF4-FFF2-40B4-BE49-F238E27FC236}">
                  <a16:creationId xmlns:a16="http://schemas.microsoft.com/office/drawing/2014/main" id="{96A97B08-1215-D9AB-43DB-5F9BA8F84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90">
              <a:extLst>
                <a:ext uri="{FF2B5EF4-FFF2-40B4-BE49-F238E27FC236}">
                  <a16:creationId xmlns:a16="http://schemas.microsoft.com/office/drawing/2014/main" id="{D42228E5-7E2F-39E1-2A96-BF80C8077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 91">
              <a:extLst>
                <a:ext uri="{FF2B5EF4-FFF2-40B4-BE49-F238E27FC236}">
                  <a16:creationId xmlns:a16="http://schemas.microsoft.com/office/drawing/2014/main" id="{5FC1309C-6685-61F7-435C-A9B2C00BE8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92">
              <a:extLst>
                <a:ext uri="{FF2B5EF4-FFF2-40B4-BE49-F238E27FC236}">
                  <a16:creationId xmlns:a16="http://schemas.microsoft.com/office/drawing/2014/main" id="{3DFBC826-88AA-1463-42A1-75F6FE377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 93">
              <a:extLst>
                <a:ext uri="{FF2B5EF4-FFF2-40B4-BE49-F238E27FC236}">
                  <a16:creationId xmlns:a16="http://schemas.microsoft.com/office/drawing/2014/main" id="{4A30BDAB-86C2-3607-E634-8A5593270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 94">
              <a:extLst>
                <a:ext uri="{FF2B5EF4-FFF2-40B4-BE49-F238E27FC236}">
                  <a16:creationId xmlns:a16="http://schemas.microsoft.com/office/drawing/2014/main" id="{7297F790-BE80-6B59-3D20-E73D7CB21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 95">
              <a:extLst>
                <a:ext uri="{FF2B5EF4-FFF2-40B4-BE49-F238E27FC236}">
                  <a16:creationId xmlns:a16="http://schemas.microsoft.com/office/drawing/2014/main" id="{59FEAF8A-C452-B249-8189-03C811845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 96">
              <a:extLst>
                <a:ext uri="{FF2B5EF4-FFF2-40B4-BE49-F238E27FC236}">
                  <a16:creationId xmlns:a16="http://schemas.microsoft.com/office/drawing/2014/main" id="{387D875B-D7B7-049A-6E9B-172F23EF8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reeform 97">
              <a:extLst>
                <a:ext uri="{FF2B5EF4-FFF2-40B4-BE49-F238E27FC236}">
                  <a16:creationId xmlns:a16="http://schemas.microsoft.com/office/drawing/2014/main" id="{57523787-B1EA-7778-CE3A-01F511076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Freeform 98">
              <a:extLst>
                <a:ext uri="{FF2B5EF4-FFF2-40B4-BE49-F238E27FC236}">
                  <a16:creationId xmlns:a16="http://schemas.microsoft.com/office/drawing/2014/main" id="{6C6FF7C1-1A38-D1E8-291A-8F787B87E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 99">
              <a:extLst>
                <a:ext uri="{FF2B5EF4-FFF2-40B4-BE49-F238E27FC236}">
                  <a16:creationId xmlns:a16="http://schemas.microsoft.com/office/drawing/2014/main" id="{193CCC6D-DC82-ED77-9E6A-4DFD8CEA2B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0">
              <a:extLst>
                <a:ext uri="{FF2B5EF4-FFF2-40B4-BE49-F238E27FC236}">
                  <a16:creationId xmlns:a16="http://schemas.microsoft.com/office/drawing/2014/main" id="{A67DDA8D-7C46-65A7-7D3D-28D6A6EAD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1">
              <a:extLst>
                <a:ext uri="{FF2B5EF4-FFF2-40B4-BE49-F238E27FC236}">
                  <a16:creationId xmlns:a16="http://schemas.microsoft.com/office/drawing/2014/main" id="{54FCF24C-9790-7CAC-C234-CDFFE793C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">
              <a:extLst>
                <a:ext uri="{FF2B5EF4-FFF2-40B4-BE49-F238E27FC236}">
                  <a16:creationId xmlns:a16="http://schemas.microsoft.com/office/drawing/2014/main" id="{AD0FCC08-2940-E290-4B53-E67EC8BCA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3">
              <a:extLst>
                <a:ext uri="{FF2B5EF4-FFF2-40B4-BE49-F238E27FC236}">
                  <a16:creationId xmlns:a16="http://schemas.microsoft.com/office/drawing/2014/main" id="{8F94D5CB-5AEA-DADE-A9C9-9B541A30F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4">
              <a:extLst>
                <a:ext uri="{FF2B5EF4-FFF2-40B4-BE49-F238E27FC236}">
                  <a16:creationId xmlns:a16="http://schemas.microsoft.com/office/drawing/2014/main" id="{4A62B8D9-71F7-2ADE-A27A-793AB61DB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 105">
              <a:extLst>
                <a:ext uri="{FF2B5EF4-FFF2-40B4-BE49-F238E27FC236}">
                  <a16:creationId xmlns:a16="http://schemas.microsoft.com/office/drawing/2014/main" id="{1CAFB308-B981-1876-1835-8E3F12887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 106">
              <a:extLst>
                <a:ext uri="{FF2B5EF4-FFF2-40B4-BE49-F238E27FC236}">
                  <a16:creationId xmlns:a16="http://schemas.microsoft.com/office/drawing/2014/main" id="{25DAA653-2920-CE7D-3ADC-DB4C06A7E2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7">
              <a:extLst>
                <a:ext uri="{FF2B5EF4-FFF2-40B4-BE49-F238E27FC236}">
                  <a16:creationId xmlns:a16="http://schemas.microsoft.com/office/drawing/2014/main" id="{50945285-350C-00A7-660F-D5A4682D8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8">
              <a:extLst>
                <a:ext uri="{FF2B5EF4-FFF2-40B4-BE49-F238E27FC236}">
                  <a16:creationId xmlns:a16="http://schemas.microsoft.com/office/drawing/2014/main" id="{00E08F94-3631-DE65-EA9F-9826564B9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9">
              <a:extLst>
                <a:ext uri="{FF2B5EF4-FFF2-40B4-BE49-F238E27FC236}">
                  <a16:creationId xmlns:a16="http://schemas.microsoft.com/office/drawing/2014/main" id="{F1CD185B-EB46-5E41-69E6-0F32764AD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10">
              <a:extLst>
                <a:ext uri="{FF2B5EF4-FFF2-40B4-BE49-F238E27FC236}">
                  <a16:creationId xmlns:a16="http://schemas.microsoft.com/office/drawing/2014/main" id="{9F266C0B-D8CE-0E68-7955-C2A5D6374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11">
              <a:extLst>
                <a:ext uri="{FF2B5EF4-FFF2-40B4-BE49-F238E27FC236}">
                  <a16:creationId xmlns:a16="http://schemas.microsoft.com/office/drawing/2014/main" id="{A2281A21-F1EF-628F-9BAF-5B1E9B4B2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reeform 112">
              <a:extLst>
                <a:ext uri="{FF2B5EF4-FFF2-40B4-BE49-F238E27FC236}">
                  <a16:creationId xmlns:a16="http://schemas.microsoft.com/office/drawing/2014/main" id="{C70D3691-13B3-D77E-D5DF-A0FB166D0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Freeform 113">
              <a:extLst>
                <a:ext uri="{FF2B5EF4-FFF2-40B4-BE49-F238E27FC236}">
                  <a16:creationId xmlns:a16="http://schemas.microsoft.com/office/drawing/2014/main" id="{052A4D8C-2033-3D16-603D-9798251FDF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Freeform 114">
              <a:extLst>
                <a:ext uri="{FF2B5EF4-FFF2-40B4-BE49-F238E27FC236}">
                  <a16:creationId xmlns:a16="http://schemas.microsoft.com/office/drawing/2014/main" id="{20033C4C-B27E-25AE-9B19-3C6F2DBA3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Freeform 115">
              <a:extLst>
                <a:ext uri="{FF2B5EF4-FFF2-40B4-BE49-F238E27FC236}">
                  <a16:creationId xmlns:a16="http://schemas.microsoft.com/office/drawing/2014/main" id="{D0003DE7-7D6D-DFEF-7A6D-2D9C8A953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 116">
              <a:extLst>
                <a:ext uri="{FF2B5EF4-FFF2-40B4-BE49-F238E27FC236}">
                  <a16:creationId xmlns:a16="http://schemas.microsoft.com/office/drawing/2014/main" id="{6FF8237D-DF44-0729-6675-D22FCC6FD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 117">
              <a:extLst>
                <a:ext uri="{FF2B5EF4-FFF2-40B4-BE49-F238E27FC236}">
                  <a16:creationId xmlns:a16="http://schemas.microsoft.com/office/drawing/2014/main" id="{0668529A-F1DC-58FB-1D16-473EFFAAE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118">
              <a:extLst>
                <a:ext uri="{FF2B5EF4-FFF2-40B4-BE49-F238E27FC236}">
                  <a16:creationId xmlns:a16="http://schemas.microsoft.com/office/drawing/2014/main" id="{6DFD5641-FDAA-A1C7-F832-1EB5D6784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119">
              <a:extLst>
                <a:ext uri="{FF2B5EF4-FFF2-40B4-BE49-F238E27FC236}">
                  <a16:creationId xmlns:a16="http://schemas.microsoft.com/office/drawing/2014/main" id="{C5FF472F-DD02-EB32-D908-EA03D910E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120">
              <a:extLst>
                <a:ext uri="{FF2B5EF4-FFF2-40B4-BE49-F238E27FC236}">
                  <a16:creationId xmlns:a16="http://schemas.microsoft.com/office/drawing/2014/main" id="{F2491C15-9436-1705-D8C7-933EE828C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 121">
              <a:extLst>
                <a:ext uri="{FF2B5EF4-FFF2-40B4-BE49-F238E27FC236}">
                  <a16:creationId xmlns:a16="http://schemas.microsoft.com/office/drawing/2014/main" id="{BCF47E2C-8358-D9C4-1210-0EAF7021F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122">
              <a:extLst>
                <a:ext uri="{FF2B5EF4-FFF2-40B4-BE49-F238E27FC236}">
                  <a16:creationId xmlns:a16="http://schemas.microsoft.com/office/drawing/2014/main" id="{F39140C8-AD58-5F86-61A5-9E34BC8AA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123">
              <a:extLst>
                <a:ext uri="{FF2B5EF4-FFF2-40B4-BE49-F238E27FC236}">
                  <a16:creationId xmlns:a16="http://schemas.microsoft.com/office/drawing/2014/main" id="{656E7CC3-1007-046E-5980-10604909B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 124">
              <a:extLst>
                <a:ext uri="{FF2B5EF4-FFF2-40B4-BE49-F238E27FC236}">
                  <a16:creationId xmlns:a16="http://schemas.microsoft.com/office/drawing/2014/main" id="{CF9B89FD-E209-1E55-5236-1A15850C5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125">
              <a:extLst>
                <a:ext uri="{FF2B5EF4-FFF2-40B4-BE49-F238E27FC236}">
                  <a16:creationId xmlns:a16="http://schemas.microsoft.com/office/drawing/2014/main" id="{35435E9F-5D80-EDB0-B3D3-DC58A6656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126">
              <a:extLst>
                <a:ext uri="{FF2B5EF4-FFF2-40B4-BE49-F238E27FC236}">
                  <a16:creationId xmlns:a16="http://schemas.microsoft.com/office/drawing/2014/main" id="{3764BB39-743B-2ED9-9904-CD08CF6A1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27">
              <a:extLst>
                <a:ext uri="{FF2B5EF4-FFF2-40B4-BE49-F238E27FC236}">
                  <a16:creationId xmlns:a16="http://schemas.microsoft.com/office/drawing/2014/main" id="{BF3D9011-E08D-2617-8160-DCD83DB12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28">
              <a:extLst>
                <a:ext uri="{FF2B5EF4-FFF2-40B4-BE49-F238E27FC236}">
                  <a16:creationId xmlns:a16="http://schemas.microsoft.com/office/drawing/2014/main" id="{A63AD859-1285-7124-B0C7-51145C4D7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129">
              <a:extLst>
                <a:ext uri="{FF2B5EF4-FFF2-40B4-BE49-F238E27FC236}">
                  <a16:creationId xmlns:a16="http://schemas.microsoft.com/office/drawing/2014/main" id="{0EE58A90-1778-6C41-A96E-2038B16FC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130">
              <a:extLst>
                <a:ext uri="{FF2B5EF4-FFF2-40B4-BE49-F238E27FC236}">
                  <a16:creationId xmlns:a16="http://schemas.microsoft.com/office/drawing/2014/main" id="{BE4F2C51-1F90-E9C1-4873-FD17176DB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131">
              <a:extLst>
                <a:ext uri="{FF2B5EF4-FFF2-40B4-BE49-F238E27FC236}">
                  <a16:creationId xmlns:a16="http://schemas.microsoft.com/office/drawing/2014/main" id="{AA2A06DE-235D-2BE2-5748-F3002AC75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132">
              <a:extLst>
                <a:ext uri="{FF2B5EF4-FFF2-40B4-BE49-F238E27FC236}">
                  <a16:creationId xmlns:a16="http://schemas.microsoft.com/office/drawing/2014/main" id="{869564A1-0B42-0B6F-9BA6-F5A649F8E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133">
              <a:extLst>
                <a:ext uri="{FF2B5EF4-FFF2-40B4-BE49-F238E27FC236}">
                  <a16:creationId xmlns:a16="http://schemas.microsoft.com/office/drawing/2014/main" id="{020ED669-7364-79A2-2CF6-0D8140B272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34">
              <a:extLst>
                <a:ext uri="{FF2B5EF4-FFF2-40B4-BE49-F238E27FC236}">
                  <a16:creationId xmlns:a16="http://schemas.microsoft.com/office/drawing/2014/main" id="{7BE2B743-B3ED-AE57-ED1B-D2D7BD8FA4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135">
              <a:extLst>
                <a:ext uri="{FF2B5EF4-FFF2-40B4-BE49-F238E27FC236}">
                  <a16:creationId xmlns:a16="http://schemas.microsoft.com/office/drawing/2014/main" id="{2519819E-0486-9541-D5C6-B4AC44A4E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 136">
              <a:extLst>
                <a:ext uri="{FF2B5EF4-FFF2-40B4-BE49-F238E27FC236}">
                  <a16:creationId xmlns:a16="http://schemas.microsoft.com/office/drawing/2014/main" id="{19C1E87C-638D-C1CE-1B32-FC90DBD6D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37">
              <a:extLst>
                <a:ext uri="{FF2B5EF4-FFF2-40B4-BE49-F238E27FC236}">
                  <a16:creationId xmlns:a16="http://schemas.microsoft.com/office/drawing/2014/main" id="{2D40D78F-EA11-D4A9-4CE6-7E750D178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 138">
              <a:extLst>
                <a:ext uri="{FF2B5EF4-FFF2-40B4-BE49-F238E27FC236}">
                  <a16:creationId xmlns:a16="http://schemas.microsoft.com/office/drawing/2014/main" id="{5E0F6B8F-A979-B8F8-2BEF-D96D8F0FD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39">
              <a:extLst>
                <a:ext uri="{FF2B5EF4-FFF2-40B4-BE49-F238E27FC236}">
                  <a16:creationId xmlns:a16="http://schemas.microsoft.com/office/drawing/2014/main" id="{215E5ABF-7E01-C23F-44A0-006EF605D9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reeform 140">
              <a:extLst>
                <a:ext uri="{FF2B5EF4-FFF2-40B4-BE49-F238E27FC236}">
                  <a16:creationId xmlns:a16="http://schemas.microsoft.com/office/drawing/2014/main" id="{AECB246E-B009-9D69-576C-C50C18644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Freeform 141">
              <a:extLst>
                <a:ext uri="{FF2B5EF4-FFF2-40B4-BE49-F238E27FC236}">
                  <a16:creationId xmlns:a16="http://schemas.microsoft.com/office/drawing/2014/main" id="{6AFC1CCA-70CF-2D4E-B5A5-5DFBD60C9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142">
              <a:extLst>
                <a:ext uri="{FF2B5EF4-FFF2-40B4-BE49-F238E27FC236}">
                  <a16:creationId xmlns:a16="http://schemas.microsoft.com/office/drawing/2014/main" id="{9F29772D-9BE9-7AC8-1A45-76A2B6CCE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 143">
              <a:extLst>
                <a:ext uri="{FF2B5EF4-FFF2-40B4-BE49-F238E27FC236}">
                  <a16:creationId xmlns:a16="http://schemas.microsoft.com/office/drawing/2014/main" id="{07FE4C8B-0F45-8B33-F5C3-63D7ECD4B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 144">
              <a:extLst>
                <a:ext uri="{FF2B5EF4-FFF2-40B4-BE49-F238E27FC236}">
                  <a16:creationId xmlns:a16="http://schemas.microsoft.com/office/drawing/2014/main" id="{D3834999-CDCC-F9E9-0E0F-DA027DC6D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45">
              <a:extLst>
                <a:ext uri="{FF2B5EF4-FFF2-40B4-BE49-F238E27FC236}">
                  <a16:creationId xmlns:a16="http://schemas.microsoft.com/office/drawing/2014/main" id="{5353EBBF-3214-A9DE-255F-1F2271A2C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 146">
              <a:extLst>
                <a:ext uri="{FF2B5EF4-FFF2-40B4-BE49-F238E27FC236}">
                  <a16:creationId xmlns:a16="http://schemas.microsoft.com/office/drawing/2014/main" id="{7CC7ED27-0627-D64A-3C7B-2FDE63CEB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 147">
              <a:extLst>
                <a:ext uri="{FF2B5EF4-FFF2-40B4-BE49-F238E27FC236}">
                  <a16:creationId xmlns:a16="http://schemas.microsoft.com/office/drawing/2014/main" id="{7330D3D9-45EA-D7D6-B990-F43577D9C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Freeform 148">
              <a:extLst>
                <a:ext uri="{FF2B5EF4-FFF2-40B4-BE49-F238E27FC236}">
                  <a16:creationId xmlns:a16="http://schemas.microsoft.com/office/drawing/2014/main" id="{B1535C90-C230-7B09-AAD8-BF6AFE6ED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Freeform 149">
              <a:extLst>
                <a:ext uri="{FF2B5EF4-FFF2-40B4-BE49-F238E27FC236}">
                  <a16:creationId xmlns:a16="http://schemas.microsoft.com/office/drawing/2014/main" id="{D51973AF-8473-82A2-F28D-85CD03F0E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 150">
              <a:extLst>
                <a:ext uri="{FF2B5EF4-FFF2-40B4-BE49-F238E27FC236}">
                  <a16:creationId xmlns:a16="http://schemas.microsoft.com/office/drawing/2014/main" id="{DB58EAFA-34AA-4ED0-AFCF-371037E8F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151">
              <a:extLst>
                <a:ext uri="{FF2B5EF4-FFF2-40B4-BE49-F238E27FC236}">
                  <a16:creationId xmlns:a16="http://schemas.microsoft.com/office/drawing/2014/main" id="{633CE3DD-0F8F-1BCE-4069-DC4004A79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52">
              <a:extLst>
                <a:ext uri="{FF2B5EF4-FFF2-40B4-BE49-F238E27FC236}">
                  <a16:creationId xmlns:a16="http://schemas.microsoft.com/office/drawing/2014/main" id="{C695C627-9BA9-65BA-58E9-0441C3851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53">
              <a:extLst>
                <a:ext uri="{FF2B5EF4-FFF2-40B4-BE49-F238E27FC236}">
                  <a16:creationId xmlns:a16="http://schemas.microsoft.com/office/drawing/2014/main" id="{C0D6AA0C-67DA-4ED8-E7D6-31B24A7C3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Freeform 154">
              <a:extLst>
                <a:ext uri="{FF2B5EF4-FFF2-40B4-BE49-F238E27FC236}">
                  <a16:creationId xmlns:a16="http://schemas.microsoft.com/office/drawing/2014/main" id="{39135757-2EAD-0E3C-A20F-59F9D4382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Freeform 155">
              <a:extLst>
                <a:ext uri="{FF2B5EF4-FFF2-40B4-BE49-F238E27FC236}">
                  <a16:creationId xmlns:a16="http://schemas.microsoft.com/office/drawing/2014/main" id="{FC38399E-43E5-B1E8-DCD8-5B8003493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Freeform 156">
              <a:extLst>
                <a:ext uri="{FF2B5EF4-FFF2-40B4-BE49-F238E27FC236}">
                  <a16:creationId xmlns:a16="http://schemas.microsoft.com/office/drawing/2014/main" id="{80A56389-A132-7820-13BC-3E992742B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Freeform 157">
              <a:extLst>
                <a:ext uri="{FF2B5EF4-FFF2-40B4-BE49-F238E27FC236}">
                  <a16:creationId xmlns:a16="http://schemas.microsoft.com/office/drawing/2014/main" id="{EB8A9D7C-579F-7B7F-20B1-C07F54F38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" name="Freeform 158">
              <a:extLst>
                <a:ext uri="{FF2B5EF4-FFF2-40B4-BE49-F238E27FC236}">
                  <a16:creationId xmlns:a16="http://schemas.microsoft.com/office/drawing/2014/main" id="{C6F76874-2A79-99E4-7E0B-94FBC6FEE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59">
              <a:extLst>
                <a:ext uri="{FF2B5EF4-FFF2-40B4-BE49-F238E27FC236}">
                  <a16:creationId xmlns:a16="http://schemas.microsoft.com/office/drawing/2014/main" id="{A675C79F-4DDE-D9FC-BE68-B00FBA90E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" name="Freeform 160">
              <a:extLst>
                <a:ext uri="{FF2B5EF4-FFF2-40B4-BE49-F238E27FC236}">
                  <a16:creationId xmlns:a16="http://schemas.microsoft.com/office/drawing/2014/main" id="{0CE6EB57-A8E4-A3C6-35E5-85ABE4238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Freeform 161">
              <a:extLst>
                <a:ext uri="{FF2B5EF4-FFF2-40B4-BE49-F238E27FC236}">
                  <a16:creationId xmlns:a16="http://schemas.microsoft.com/office/drawing/2014/main" id="{B1CB0902-45D2-4957-99B0-0C72B6654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Freeform 162">
              <a:extLst>
                <a:ext uri="{FF2B5EF4-FFF2-40B4-BE49-F238E27FC236}">
                  <a16:creationId xmlns:a16="http://schemas.microsoft.com/office/drawing/2014/main" id="{9D46FE54-9D69-A246-0E2C-2084B1686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Freeform 163">
              <a:extLst>
                <a:ext uri="{FF2B5EF4-FFF2-40B4-BE49-F238E27FC236}">
                  <a16:creationId xmlns:a16="http://schemas.microsoft.com/office/drawing/2014/main" id="{8E9E4BD0-A669-5655-890A-3D5D6405A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Freeform 164">
              <a:extLst>
                <a:ext uri="{FF2B5EF4-FFF2-40B4-BE49-F238E27FC236}">
                  <a16:creationId xmlns:a16="http://schemas.microsoft.com/office/drawing/2014/main" id="{9236C148-0BE6-1321-8476-67FBB36AA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Freeform 165">
              <a:extLst>
                <a:ext uri="{FF2B5EF4-FFF2-40B4-BE49-F238E27FC236}">
                  <a16:creationId xmlns:a16="http://schemas.microsoft.com/office/drawing/2014/main" id="{1E722020-78DE-B62C-6BD4-88C5202E0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66">
              <a:extLst>
                <a:ext uri="{FF2B5EF4-FFF2-40B4-BE49-F238E27FC236}">
                  <a16:creationId xmlns:a16="http://schemas.microsoft.com/office/drawing/2014/main" id="{6FA72469-DC99-F190-956F-C29EA6D92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 167">
              <a:extLst>
                <a:ext uri="{FF2B5EF4-FFF2-40B4-BE49-F238E27FC236}">
                  <a16:creationId xmlns:a16="http://schemas.microsoft.com/office/drawing/2014/main" id="{3FA70210-60D4-6FC8-4F88-5AA86CD59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Freeform 168">
              <a:extLst>
                <a:ext uri="{FF2B5EF4-FFF2-40B4-BE49-F238E27FC236}">
                  <a16:creationId xmlns:a16="http://schemas.microsoft.com/office/drawing/2014/main" id="{F310B896-96FE-E756-5D83-1B978C3C5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Freeform 169">
              <a:extLst>
                <a:ext uri="{FF2B5EF4-FFF2-40B4-BE49-F238E27FC236}">
                  <a16:creationId xmlns:a16="http://schemas.microsoft.com/office/drawing/2014/main" id="{E1E1A355-7113-CB32-A811-1D819B335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Freeform 170">
              <a:extLst>
                <a:ext uri="{FF2B5EF4-FFF2-40B4-BE49-F238E27FC236}">
                  <a16:creationId xmlns:a16="http://schemas.microsoft.com/office/drawing/2014/main" id="{9B99D9B7-6BFF-9013-2664-C28DA894B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Freeform 171">
              <a:extLst>
                <a:ext uri="{FF2B5EF4-FFF2-40B4-BE49-F238E27FC236}">
                  <a16:creationId xmlns:a16="http://schemas.microsoft.com/office/drawing/2014/main" id="{144AB72A-2CEE-72AD-6AD0-2970702FB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Freeform 172">
              <a:extLst>
                <a:ext uri="{FF2B5EF4-FFF2-40B4-BE49-F238E27FC236}">
                  <a16:creationId xmlns:a16="http://schemas.microsoft.com/office/drawing/2014/main" id="{9D798063-EEAC-EDBB-DEB8-54FE11A04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73">
              <a:extLst>
                <a:ext uri="{FF2B5EF4-FFF2-40B4-BE49-F238E27FC236}">
                  <a16:creationId xmlns:a16="http://schemas.microsoft.com/office/drawing/2014/main" id="{4FF139BB-15AA-B46A-39A0-E73DAD04E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74">
              <a:extLst>
                <a:ext uri="{FF2B5EF4-FFF2-40B4-BE49-F238E27FC236}">
                  <a16:creationId xmlns:a16="http://schemas.microsoft.com/office/drawing/2014/main" id="{9A584CE7-38F9-2798-1519-E44230CE6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75">
              <a:extLst>
                <a:ext uri="{FF2B5EF4-FFF2-40B4-BE49-F238E27FC236}">
                  <a16:creationId xmlns:a16="http://schemas.microsoft.com/office/drawing/2014/main" id="{1CFC0D06-E478-AE65-9FF3-43B0DFD60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76">
              <a:extLst>
                <a:ext uri="{FF2B5EF4-FFF2-40B4-BE49-F238E27FC236}">
                  <a16:creationId xmlns:a16="http://schemas.microsoft.com/office/drawing/2014/main" id="{C781A4F6-BC41-7C1A-C8F7-72BC1C7794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77">
              <a:extLst>
                <a:ext uri="{FF2B5EF4-FFF2-40B4-BE49-F238E27FC236}">
                  <a16:creationId xmlns:a16="http://schemas.microsoft.com/office/drawing/2014/main" id="{C16B9D89-3451-08E1-4FB0-59DBF8778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Freeform 178">
              <a:extLst>
                <a:ext uri="{FF2B5EF4-FFF2-40B4-BE49-F238E27FC236}">
                  <a16:creationId xmlns:a16="http://schemas.microsoft.com/office/drawing/2014/main" id="{8C7C6A4F-6933-6B80-EDF8-CD420D43A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Freeform 179">
              <a:extLst>
                <a:ext uri="{FF2B5EF4-FFF2-40B4-BE49-F238E27FC236}">
                  <a16:creationId xmlns:a16="http://schemas.microsoft.com/office/drawing/2014/main" id="{4B37350E-B767-D167-D584-AFAA6F7E6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80">
              <a:extLst>
                <a:ext uri="{FF2B5EF4-FFF2-40B4-BE49-F238E27FC236}">
                  <a16:creationId xmlns:a16="http://schemas.microsoft.com/office/drawing/2014/main" id="{A5CACEC8-0E40-EB3D-4888-C48D2185F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81">
              <a:extLst>
                <a:ext uri="{FF2B5EF4-FFF2-40B4-BE49-F238E27FC236}">
                  <a16:creationId xmlns:a16="http://schemas.microsoft.com/office/drawing/2014/main" id="{71C02E98-BC72-6E1C-E862-8901B7400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82">
              <a:extLst>
                <a:ext uri="{FF2B5EF4-FFF2-40B4-BE49-F238E27FC236}">
                  <a16:creationId xmlns:a16="http://schemas.microsoft.com/office/drawing/2014/main" id="{8C2D85A4-B41E-E23E-1633-778A13DA8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83">
              <a:extLst>
                <a:ext uri="{FF2B5EF4-FFF2-40B4-BE49-F238E27FC236}">
                  <a16:creationId xmlns:a16="http://schemas.microsoft.com/office/drawing/2014/main" id="{E4D28715-4C91-11D4-2359-85BE8600E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84">
              <a:extLst>
                <a:ext uri="{FF2B5EF4-FFF2-40B4-BE49-F238E27FC236}">
                  <a16:creationId xmlns:a16="http://schemas.microsoft.com/office/drawing/2014/main" id="{047A276D-7369-2D37-F2D4-73B81D01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Freeform 185">
              <a:extLst>
                <a:ext uri="{FF2B5EF4-FFF2-40B4-BE49-F238E27FC236}">
                  <a16:creationId xmlns:a16="http://schemas.microsoft.com/office/drawing/2014/main" id="{740F49D4-BC62-09F5-30CA-681B81FCC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Freeform 186">
              <a:extLst>
                <a:ext uri="{FF2B5EF4-FFF2-40B4-BE49-F238E27FC236}">
                  <a16:creationId xmlns:a16="http://schemas.microsoft.com/office/drawing/2014/main" id="{0E1CE4C9-8B23-B509-683D-8AA6B6EA5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Freeform 187">
              <a:extLst>
                <a:ext uri="{FF2B5EF4-FFF2-40B4-BE49-F238E27FC236}">
                  <a16:creationId xmlns:a16="http://schemas.microsoft.com/office/drawing/2014/main" id="{47FCF230-4A61-4239-B0B5-E98FC305F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Freeform 188">
              <a:extLst>
                <a:ext uri="{FF2B5EF4-FFF2-40B4-BE49-F238E27FC236}">
                  <a16:creationId xmlns:a16="http://schemas.microsoft.com/office/drawing/2014/main" id="{C1E564B1-D003-146D-2E06-9E42E4DC8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reeform 189">
              <a:extLst>
                <a:ext uri="{FF2B5EF4-FFF2-40B4-BE49-F238E27FC236}">
                  <a16:creationId xmlns:a16="http://schemas.microsoft.com/office/drawing/2014/main" id="{DD39FB7B-59F4-32A2-0100-B95C7A037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Freeform 190">
              <a:extLst>
                <a:ext uri="{FF2B5EF4-FFF2-40B4-BE49-F238E27FC236}">
                  <a16:creationId xmlns:a16="http://schemas.microsoft.com/office/drawing/2014/main" id="{18362199-1C96-093D-D613-753D78EDD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Freeform 191">
              <a:extLst>
                <a:ext uri="{FF2B5EF4-FFF2-40B4-BE49-F238E27FC236}">
                  <a16:creationId xmlns:a16="http://schemas.microsoft.com/office/drawing/2014/main" id="{88E5028E-B46B-EEEA-6CE8-D3201B893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" name="Freeform 192">
              <a:extLst>
                <a:ext uri="{FF2B5EF4-FFF2-40B4-BE49-F238E27FC236}">
                  <a16:creationId xmlns:a16="http://schemas.microsoft.com/office/drawing/2014/main" id="{5A83F775-37EA-FFF2-0813-73A52D600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Freeform 193">
              <a:extLst>
                <a:ext uri="{FF2B5EF4-FFF2-40B4-BE49-F238E27FC236}">
                  <a16:creationId xmlns:a16="http://schemas.microsoft.com/office/drawing/2014/main" id="{CD14FECC-0120-5B9A-3AF6-1B44C284C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Freeform 194">
              <a:extLst>
                <a:ext uri="{FF2B5EF4-FFF2-40B4-BE49-F238E27FC236}">
                  <a16:creationId xmlns:a16="http://schemas.microsoft.com/office/drawing/2014/main" id="{1B75EE9C-0D49-9D52-02BB-631318A4E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" name="Freeform 195">
              <a:extLst>
                <a:ext uri="{FF2B5EF4-FFF2-40B4-BE49-F238E27FC236}">
                  <a16:creationId xmlns:a16="http://schemas.microsoft.com/office/drawing/2014/main" id="{094FB61C-19AC-B1E7-4C25-17197F9A6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Freeform 196">
              <a:extLst>
                <a:ext uri="{FF2B5EF4-FFF2-40B4-BE49-F238E27FC236}">
                  <a16:creationId xmlns:a16="http://schemas.microsoft.com/office/drawing/2014/main" id="{FE405A03-D82D-BDEE-3B94-1DBEAF75D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Freeform 197">
              <a:extLst>
                <a:ext uri="{FF2B5EF4-FFF2-40B4-BE49-F238E27FC236}">
                  <a16:creationId xmlns:a16="http://schemas.microsoft.com/office/drawing/2014/main" id="{8BA5CB25-C777-143C-C299-DB9BDFEB7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Freeform 198">
              <a:extLst>
                <a:ext uri="{FF2B5EF4-FFF2-40B4-BE49-F238E27FC236}">
                  <a16:creationId xmlns:a16="http://schemas.microsoft.com/office/drawing/2014/main" id="{87845925-B429-7069-9D3F-80FC88556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Freeform 199">
              <a:extLst>
                <a:ext uri="{FF2B5EF4-FFF2-40B4-BE49-F238E27FC236}">
                  <a16:creationId xmlns:a16="http://schemas.microsoft.com/office/drawing/2014/main" id="{3B5957F3-7CDD-F051-E5E8-2A5E85DD5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Freeform 200">
              <a:extLst>
                <a:ext uri="{FF2B5EF4-FFF2-40B4-BE49-F238E27FC236}">
                  <a16:creationId xmlns:a16="http://schemas.microsoft.com/office/drawing/2014/main" id="{07A1A597-950E-EC5B-F820-E9D98038C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Freeform 201">
              <a:extLst>
                <a:ext uri="{FF2B5EF4-FFF2-40B4-BE49-F238E27FC236}">
                  <a16:creationId xmlns:a16="http://schemas.microsoft.com/office/drawing/2014/main" id="{FA0AC6B9-9DF9-34B9-5CFB-78D3E2F5C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Freeform 202">
              <a:extLst>
                <a:ext uri="{FF2B5EF4-FFF2-40B4-BE49-F238E27FC236}">
                  <a16:creationId xmlns:a16="http://schemas.microsoft.com/office/drawing/2014/main" id="{3860CE23-585D-8C35-3B58-3886F05CF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" name="Freeform 203">
              <a:extLst>
                <a:ext uri="{FF2B5EF4-FFF2-40B4-BE49-F238E27FC236}">
                  <a16:creationId xmlns:a16="http://schemas.microsoft.com/office/drawing/2014/main" id="{15134D0C-F75F-3D53-134A-704C05E02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" name="Freeform 204">
              <a:extLst>
                <a:ext uri="{FF2B5EF4-FFF2-40B4-BE49-F238E27FC236}">
                  <a16:creationId xmlns:a16="http://schemas.microsoft.com/office/drawing/2014/main" id="{A69C5936-8CA8-38FF-66D4-73BB67B21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" name="Freeform 205">
              <a:extLst>
                <a:ext uri="{FF2B5EF4-FFF2-40B4-BE49-F238E27FC236}">
                  <a16:creationId xmlns:a16="http://schemas.microsoft.com/office/drawing/2014/main" id="{724C4C10-1BEC-5810-C054-ABC53F011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" name="Freeform 206">
              <a:extLst>
                <a:ext uri="{FF2B5EF4-FFF2-40B4-BE49-F238E27FC236}">
                  <a16:creationId xmlns:a16="http://schemas.microsoft.com/office/drawing/2014/main" id="{E6FC4AD0-F2E8-D73D-5E7F-BA3F53A46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158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780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_Full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2A748D66-6953-5615-FFCF-A9EA0C05F746}"/>
              </a:ext>
            </a:extLst>
          </p:cNvPr>
          <p:cNvSpPr txBox="1">
            <a:spLocks/>
          </p:cNvSpPr>
          <p:nvPr userDrawn="1"/>
        </p:nvSpPr>
        <p:spPr>
          <a:xfrm>
            <a:off x="571910" y="2883091"/>
            <a:ext cx="6032412" cy="345257"/>
          </a:xfrm>
          <a:prstGeom prst="rect">
            <a:avLst/>
          </a:prstGeom>
        </p:spPr>
        <p:txBody>
          <a:bodyPr vert="horz" wrap="square" lIns="0" tIns="9241" rIns="0" bIns="0" rtlCol="0">
            <a:spAutoFit/>
          </a:bodyPr>
          <a:lstStyle>
            <a:lvl1pPr>
              <a:defRPr sz="5750" b="1" i="0">
                <a:solidFill>
                  <a:srgbClr val="C8102E"/>
                </a:solidFill>
                <a:latin typeface="Roboto Condensed Black"/>
                <a:ea typeface="+mj-ea"/>
                <a:cs typeface="Roboto Condensed Black"/>
              </a:defRPr>
            </a:lvl1pPr>
          </a:lstStyle>
          <a:p>
            <a:pPr marL="7701" algn="l">
              <a:spcBef>
                <a:spcPts val="73"/>
              </a:spcBef>
            </a:pPr>
            <a:r>
              <a:rPr lang="it-IT" sz="2183" b="0" i="1" spc="-5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/>
              </a:rPr>
              <a:t>«</a:t>
            </a:r>
            <a:r>
              <a:rPr lang="it-IT" sz="2183" b="0" i="1" spc="-5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/>
              </a:rPr>
              <a:t>Connecting</a:t>
            </a:r>
            <a:r>
              <a:rPr lang="it-IT" sz="2183" b="0" i="1" spc="-5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/>
              </a:rPr>
              <a:t> worlds, </a:t>
            </a:r>
            <a:r>
              <a:rPr lang="it-IT" sz="2183" b="0" i="1" spc="-5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/>
              </a:rPr>
              <a:t>driving</a:t>
            </a:r>
            <a:r>
              <a:rPr lang="it-IT" sz="2183" b="0" i="1" spc="-5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/>
              </a:rPr>
              <a:t> </a:t>
            </a:r>
            <a:r>
              <a:rPr lang="it-IT" sz="2183" b="0" i="1" spc="-5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/>
              </a:rPr>
              <a:t>emotions</a:t>
            </a:r>
            <a:r>
              <a:rPr lang="it-IT" sz="2183" b="0" i="1" spc="-5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/>
              </a:rPr>
              <a:t>»</a:t>
            </a:r>
            <a:endParaRPr lang="it-IT" sz="2183" b="0" i="1" spc="-16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object 3">
            <a:hlinkClick r:id="rId2"/>
            <a:extLst>
              <a:ext uri="{FF2B5EF4-FFF2-40B4-BE49-F238E27FC236}">
                <a16:creationId xmlns:a16="http://schemas.microsoft.com/office/drawing/2014/main" id="{729D3C53-279D-3E6E-5B96-3DE2BCE8E7B7}"/>
              </a:ext>
            </a:extLst>
          </p:cNvPr>
          <p:cNvSpPr txBox="1">
            <a:spLocks/>
          </p:cNvSpPr>
          <p:nvPr userDrawn="1"/>
        </p:nvSpPr>
        <p:spPr>
          <a:xfrm>
            <a:off x="10586298" y="5876717"/>
            <a:ext cx="1033796" cy="233367"/>
          </a:xfrm>
          <a:prstGeom prst="rect">
            <a:avLst/>
          </a:prstGeom>
        </p:spPr>
        <p:txBody>
          <a:bodyPr vert="horz" wrap="square" lIns="0" tIns="9241" rIns="0" bIns="0" rtlCol="0">
            <a:spAutoFit/>
          </a:bodyPr>
          <a:lstStyle>
            <a:lvl1pPr>
              <a:defRPr sz="5750" b="1" i="0">
                <a:solidFill>
                  <a:srgbClr val="C8102E"/>
                </a:solidFill>
                <a:latin typeface="Roboto Condensed Black"/>
                <a:ea typeface="+mj-ea"/>
                <a:cs typeface="Roboto Condensed Black"/>
              </a:defRPr>
            </a:lvl1pPr>
          </a:lstStyle>
          <a:p>
            <a:pPr marL="7701" algn="r">
              <a:spcBef>
                <a:spcPts val="73"/>
              </a:spcBef>
            </a:pPr>
            <a:r>
              <a:rPr lang="it-IT" sz="1456" spc="-5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/>
              </a:rPr>
              <a:t>arcese.com</a:t>
            </a:r>
            <a:endParaRPr lang="it-IT" sz="1456" spc="-16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24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60A4B7FF-F279-0F4C-2B70-D8AEB730AF4C}"/>
              </a:ext>
            </a:extLst>
          </p:cNvPr>
          <p:cNvSpPr/>
          <p:nvPr userDrawn="1"/>
        </p:nvSpPr>
        <p:spPr>
          <a:xfrm>
            <a:off x="156101" y="190132"/>
            <a:ext cx="11898421" cy="52393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6A5E2F1-6014-9F8F-8247-D0C7BE32CDF1}"/>
              </a:ext>
            </a:extLst>
          </p:cNvPr>
          <p:cNvSpPr txBox="1"/>
          <p:nvPr userDrawn="1"/>
        </p:nvSpPr>
        <p:spPr>
          <a:xfrm>
            <a:off x="1135297" y="3541096"/>
            <a:ext cx="4025491" cy="838819"/>
          </a:xfrm>
          <a:prstGeom prst="rect">
            <a:avLst/>
          </a:prstGeom>
          <a:noFill/>
          <a:ln w="76200" cap="sq">
            <a:solidFill>
              <a:schemeClr val="bg1"/>
            </a:solidFill>
            <a:miter lim="800000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4851" b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00850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A7EC-0772-D35E-93C7-1E34B472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D4886-8312-DA18-107C-BB59381C3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8A0B8-642E-FD7B-92CC-0E263D7C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711DE-08D4-4F9D-B345-5D511CE408D9}" type="datetimeFigureOut">
              <a:rPr lang="it-IT" smtClean="0"/>
              <a:t>27/08/2026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EC5EC-194F-514C-C3CC-BBEAB4BB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81F53-02DC-3294-6757-BCA2BE4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3185-3A4B-4257-863C-C6C375A79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9070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19D3-BAA9-FF8B-83FA-4C3131D7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8FE8D-7FF3-B13D-DBE3-6594CCEF6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514B-80CC-4BEB-B263-D6B6850EA505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B1564-2426-BD0A-C377-50FC037F1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9CEFE-78B0-D447-8656-393B8AAB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E26DF-C828-48E6-9E50-702D399D2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54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7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277244" eaLnBrk="1" hangingPunct="1">
        <a:defRPr>
          <a:latin typeface="+mn-lt"/>
          <a:ea typeface="+mn-ea"/>
          <a:cs typeface="+mn-cs"/>
        </a:defRPr>
      </a:lvl2pPr>
      <a:lvl3pPr marL="554486" eaLnBrk="1" hangingPunct="1">
        <a:defRPr>
          <a:latin typeface="+mn-lt"/>
          <a:ea typeface="+mn-ea"/>
          <a:cs typeface="+mn-cs"/>
        </a:defRPr>
      </a:lvl3pPr>
      <a:lvl4pPr marL="831730" eaLnBrk="1" hangingPunct="1">
        <a:defRPr>
          <a:latin typeface="+mn-lt"/>
          <a:ea typeface="+mn-ea"/>
          <a:cs typeface="+mn-cs"/>
        </a:defRPr>
      </a:lvl4pPr>
      <a:lvl5pPr marL="1108972" eaLnBrk="1" hangingPunct="1">
        <a:defRPr>
          <a:latin typeface="+mn-lt"/>
          <a:ea typeface="+mn-ea"/>
          <a:cs typeface="+mn-cs"/>
        </a:defRPr>
      </a:lvl5pPr>
      <a:lvl6pPr marL="1386216" eaLnBrk="1" hangingPunct="1">
        <a:defRPr>
          <a:latin typeface="+mn-lt"/>
          <a:ea typeface="+mn-ea"/>
          <a:cs typeface="+mn-cs"/>
        </a:defRPr>
      </a:lvl6pPr>
      <a:lvl7pPr marL="1663458" eaLnBrk="1" hangingPunct="1">
        <a:defRPr>
          <a:latin typeface="+mn-lt"/>
          <a:ea typeface="+mn-ea"/>
          <a:cs typeface="+mn-cs"/>
        </a:defRPr>
      </a:lvl7pPr>
      <a:lvl8pPr marL="1940702" eaLnBrk="1" hangingPunct="1">
        <a:defRPr>
          <a:latin typeface="+mn-lt"/>
          <a:ea typeface="+mn-ea"/>
          <a:cs typeface="+mn-cs"/>
        </a:defRPr>
      </a:lvl8pPr>
      <a:lvl9pPr marL="221794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77244" eaLnBrk="1" hangingPunct="1">
        <a:defRPr>
          <a:latin typeface="+mn-lt"/>
          <a:ea typeface="+mn-ea"/>
          <a:cs typeface="+mn-cs"/>
        </a:defRPr>
      </a:lvl2pPr>
      <a:lvl3pPr marL="554486" eaLnBrk="1" hangingPunct="1">
        <a:defRPr>
          <a:latin typeface="+mn-lt"/>
          <a:ea typeface="+mn-ea"/>
          <a:cs typeface="+mn-cs"/>
        </a:defRPr>
      </a:lvl3pPr>
      <a:lvl4pPr marL="831730" eaLnBrk="1" hangingPunct="1">
        <a:defRPr>
          <a:latin typeface="+mn-lt"/>
          <a:ea typeface="+mn-ea"/>
          <a:cs typeface="+mn-cs"/>
        </a:defRPr>
      </a:lvl4pPr>
      <a:lvl5pPr marL="1108972" eaLnBrk="1" hangingPunct="1">
        <a:defRPr>
          <a:latin typeface="+mn-lt"/>
          <a:ea typeface="+mn-ea"/>
          <a:cs typeface="+mn-cs"/>
        </a:defRPr>
      </a:lvl5pPr>
      <a:lvl6pPr marL="1386216" eaLnBrk="1" hangingPunct="1">
        <a:defRPr>
          <a:latin typeface="+mn-lt"/>
          <a:ea typeface="+mn-ea"/>
          <a:cs typeface="+mn-cs"/>
        </a:defRPr>
      </a:lvl6pPr>
      <a:lvl7pPr marL="1663458" eaLnBrk="1" hangingPunct="1">
        <a:defRPr>
          <a:latin typeface="+mn-lt"/>
          <a:ea typeface="+mn-ea"/>
          <a:cs typeface="+mn-cs"/>
        </a:defRPr>
      </a:lvl7pPr>
      <a:lvl8pPr marL="1940702" eaLnBrk="1" hangingPunct="1">
        <a:defRPr>
          <a:latin typeface="+mn-lt"/>
          <a:ea typeface="+mn-ea"/>
          <a:cs typeface="+mn-cs"/>
        </a:defRPr>
      </a:lvl8pPr>
      <a:lvl9pPr marL="2217945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8195A9-8DE5-F609-E39F-177625A6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LTL e </a:t>
            </a:r>
            <a:r>
              <a:rPr lang="it-IT" dirty="0" err="1"/>
              <a:t>Contract</a:t>
            </a:r>
            <a:r>
              <a:rPr lang="it-IT" dirty="0"/>
              <a:t> </a:t>
            </a:r>
            <a:r>
              <a:rPr lang="it-IT" dirty="0" err="1"/>
              <a:t>Logistics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603164E-8F38-F389-6013-0A84D341C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Steering Committee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7503029-A5B1-9994-4E04-62218134AF6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 lIns="0" tIns="0" rIns="0" bIns="0" anchor="t"/>
          <a:lstStyle/>
          <a:p>
            <a:r>
              <a:rPr lang="it-IT" sz="2133">
                <a:latin typeface="Roboto Condensed"/>
                <a:ea typeface="Roboto Condensed"/>
                <a:cs typeface="Roboto Condensed"/>
              </a:rPr>
              <a:t>June 2026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2744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7B1EA-7B8B-58F4-420D-A1407474F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20">
            <a:extLst>
              <a:ext uri="{FF2B5EF4-FFF2-40B4-BE49-F238E27FC236}">
                <a16:creationId xmlns:a16="http://schemas.microsoft.com/office/drawing/2014/main" id="{ADF8D9E8-4BEB-8F6A-4630-74BF647783B1}"/>
              </a:ext>
            </a:extLst>
          </p:cNvPr>
          <p:cNvSpPr txBox="1">
            <a:spLocks/>
          </p:cNvSpPr>
          <p:nvPr/>
        </p:nvSpPr>
        <p:spPr>
          <a:xfrm>
            <a:off x="462869" y="6297673"/>
            <a:ext cx="288000" cy="288000"/>
          </a:xfrm>
          <a:prstGeom prst="rect">
            <a:avLst/>
          </a:prstGeom>
          <a:solidFill>
            <a:srgbClr val="CF0A2C"/>
          </a:solidFill>
        </p:spPr>
        <p:txBody>
          <a:bodyPr vert="horz" lIns="0" tIns="48000" rIns="0" bIns="4800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8018E0-F71D-4BA1-A3CE-67D93F0A687E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wis721 BT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721 BT" pitchFamily="34" charset="0"/>
              <a:ea typeface="+mn-ea"/>
              <a:cs typeface="+mn-cs"/>
            </a:endParaRPr>
          </a:p>
        </p:txBody>
      </p:sp>
      <p:pic>
        <p:nvPicPr>
          <p:cNvPr id="7" name="Picture 2" descr="C:\Users\PTattini\Desktop\logo arcese.emf">
            <a:extLst>
              <a:ext uri="{FF2B5EF4-FFF2-40B4-BE49-F238E27FC236}">
                <a16:creationId xmlns:a16="http://schemas.microsoft.com/office/drawing/2014/main" id="{733080B9-05FE-F54D-4DD0-47E9CA121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1961" y="6312989"/>
            <a:ext cx="1051200" cy="28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04D22F21-570A-A60E-33B3-BA6B88E08C54}"/>
              </a:ext>
            </a:extLst>
          </p:cNvPr>
          <p:cNvSpPr/>
          <p:nvPr/>
        </p:nvSpPr>
        <p:spPr>
          <a:xfrm>
            <a:off x="1" y="0"/>
            <a:ext cx="4026196" cy="6858000"/>
          </a:xfrm>
          <a:custGeom>
            <a:avLst/>
            <a:gdLst>
              <a:gd name="connsiteX0" fmla="*/ 0 w 3019647"/>
              <a:gd name="connsiteY0" fmla="*/ 0 h 5143500"/>
              <a:gd name="connsiteX1" fmla="*/ 1722474 w 3019647"/>
              <a:gd name="connsiteY1" fmla="*/ 0 h 5143500"/>
              <a:gd name="connsiteX2" fmla="*/ 3019647 w 3019647"/>
              <a:gd name="connsiteY2" fmla="*/ 5143500 h 5143500"/>
              <a:gd name="connsiteX3" fmla="*/ 1722474 w 3019647"/>
              <a:gd name="connsiteY3" fmla="*/ 5143500 h 5143500"/>
              <a:gd name="connsiteX4" fmla="*/ 0 w 3019647"/>
              <a:gd name="connsiteY4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9647" h="5143500">
                <a:moveTo>
                  <a:pt x="0" y="0"/>
                </a:moveTo>
                <a:lnTo>
                  <a:pt x="1722474" y="0"/>
                </a:lnTo>
                <a:lnTo>
                  <a:pt x="3019647" y="5143500"/>
                </a:lnTo>
                <a:lnTo>
                  <a:pt x="1722474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CasellaDiTesto 4">
            <a:extLst>
              <a:ext uri="{FF2B5EF4-FFF2-40B4-BE49-F238E27FC236}">
                <a16:creationId xmlns:a16="http://schemas.microsoft.com/office/drawing/2014/main" id="{E6B2953A-D44C-10AD-E90D-DF92639EFC13}"/>
              </a:ext>
            </a:extLst>
          </p:cNvPr>
          <p:cNvSpPr txBox="1"/>
          <p:nvPr/>
        </p:nvSpPr>
        <p:spPr>
          <a:xfrm>
            <a:off x="2647270" y="433932"/>
            <a:ext cx="4787932" cy="5643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067" b="0" i="0" u="none" strike="noStrike" kern="1200" cap="none" spc="-200" normalizeH="0" baseline="0" noProof="0">
                <a:ln>
                  <a:noFill/>
                </a:ln>
                <a:solidFill>
                  <a:srgbClr val="CF0A2C"/>
                </a:solidFill>
                <a:effectLst/>
                <a:uLnTx/>
                <a:uFillTx/>
                <a:latin typeface="Swis721 Lt BT" pitchFamily="34" charset="0"/>
                <a:ea typeface="+mn-ea"/>
                <a:cs typeface="+mn-cs"/>
              </a:rPr>
              <a:t>Agenda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B5FC62A-0776-8EE5-3767-557B45EA43D6}"/>
              </a:ext>
            </a:extLst>
          </p:cNvPr>
          <p:cNvGrpSpPr/>
          <p:nvPr/>
        </p:nvGrpSpPr>
        <p:grpSpPr>
          <a:xfrm>
            <a:off x="2841851" y="3084386"/>
            <a:ext cx="8609141" cy="595034"/>
            <a:chOff x="2443103" y="3458480"/>
            <a:chExt cx="6456856" cy="44627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1657CB0-18BD-5853-B90C-A20FBA09E159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CasellaDiTesto 21">
              <a:extLst>
                <a:ext uri="{FF2B5EF4-FFF2-40B4-BE49-F238E27FC236}">
                  <a16:creationId xmlns:a16="http://schemas.microsoft.com/office/drawing/2014/main" id="{AAA983B9-9853-D82E-692A-A405579B9417}"/>
                </a:ext>
              </a:extLst>
            </p:cNvPr>
            <p:cNvSpPr txBox="1"/>
            <p:nvPr/>
          </p:nvSpPr>
          <p:spPr>
            <a:xfrm>
              <a:off x="3019647" y="3510834"/>
              <a:ext cx="5880312" cy="341585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Focus on </a:t>
              </a:r>
              <a:r>
                <a:rPr kumimoji="0" lang="en-US" sz="1867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Tavoli</a:t>
              </a: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TMS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3B69F4-568A-BCF2-6AB6-0C6FDF1DDA45}"/>
              </a:ext>
            </a:extLst>
          </p:cNvPr>
          <p:cNvGrpSpPr/>
          <p:nvPr/>
        </p:nvGrpSpPr>
        <p:grpSpPr>
          <a:xfrm>
            <a:off x="3070907" y="3976220"/>
            <a:ext cx="8609141" cy="946199"/>
            <a:chOff x="2443103" y="3458480"/>
            <a:chExt cx="6456856" cy="7096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38AFA75-3553-9531-9510-5A76FA1ED683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CasellaDiTesto 21">
              <a:extLst>
                <a:ext uri="{FF2B5EF4-FFF2-40B4-BE49-F238E27FC236}">
                  <a16:creationId xmlns:a16="http://schemas.microsoft.com/office/drawing/2014/main" id="{ABA32281-DC08-2B67-72A7-1A116ACACE43}"/>
                </a:ext>
              </a:extLst>
            </p:cNvPr>
            <p:cNvSpPr txBox="1"/>
            <p:nvPr/>
          </p:nvSpPr>
          <p:spPr>
            <a:xfrm>
              <a:off x="3019647" y="3488712"/>
              <a:ext cx="5880312" cy="679418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>
                <a:defRPr/>
              </a:pPr>
              <a:r>
                <a:rPr lang="en-US" sz="1867" b="1" dirty="0" err="1">
                  <a:latin typeface="Century Gothic"/>
                </a:rPr>
                <a:t>Iniziative</a:t>
              </a:r>
              <a:endParaRPr lang="en-US" sz="1867" b="1" dirty="0">
                <a:latin typeface="Century Gothic"/>
              </a:endParaRPr>
            </a:p>
            <a:p>
              <a:pPr lvl="0">
                <a:defRPr/>
              </a:pPr>
              <a:endParaRPr kumimoji="0" lang="en-US" sz="1867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  <p:grpSp>
        <p:nvGrpSpPr>
          <p:cNvPr id="2" name="Group 16">
            <a:extLst>
              <a:ext uri="{FF2B5EF4-FFF2-40B4-BE49-F238E27FC236}">
                <a16:creationId xmlns:a16="http://schemas.microsoft.com/office/drawing/2014/main" id="{4C91A151-304D-74C9-5C31-51EC6CDA9AE4}"/>
              </a:ext>
            </a:extLst>
          </p:cNvPr>
          <p:cNvGrpSpPr/>
          <p:nvPr/>
        </p:nvGrpSpPr>
        <p:grpSpPr>
          <a:xfrm>
            <a:off x="2647270" y="2250265"/>
            <a:ext cx="8609141" cy="595034"/>
            <a:chOff x="2443103" y="3458480"/>
            <a:chExt cx="6456856" cy="446276"/>
          </a:xfrm>
        </p:grpSpPr>
        <p:sp>
          <p:nvSpPr>
            <p:cNvPr id="3" name="Oval 17">
              <a:extLst>
                <a:ext uri="{FF2B5EF4-FFF2-40B4-BE49-F238E27FC236}">
                  <a16:creationId xmlns:a16="http://schemas.microsoft.com/office/drawing/2014/main" id="{EB811F0C-8AAE-8C01-407F-F9B51EEA46A2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CasellaDiTesto 21">
              <a:extLst>
                <a:ext uri="{FF2B5EF4-FFF2-40B4-BE49-F238E27FC236}">
                  <a16:creationId xmlns:a16="http://schemas.microsoft.com/office/drawing/2014/main" id="{A427689F-795F-7440-2748-BFF006805C18}"/>
                </a:ext>
              </a:extLst>
            </p:cNvPr>
            <p:cNvSpPr txBox="1"/>
            <p:nvPr/>
          </p:nvSpPr>
          <p:spPr>
            <a:xfrm>
              <a:off x="3019647" y="3510834"/>
              <a:ext cx="5880312" cy="341585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345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8213E-F352-94C6-14D0-86DAF3747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20">
            <a:extLst>
              <a:ext uri="{FF2B5EF4-FFF2-40B4-BE49-F238E27FC236}">
                <a16:creationId xmlns:a16="http://schemas.microsoft.com/office/drawing/2014/main" id="{F1D00F4D-53F6-4E0F-C2C4-A416C8301162}"/>
              </a:ext>
            </a:extLst>
          </p:cNvPr>
          <p:cNvSpPr txBox="1">
            <a:spLocks/>
          </p:cNvSpPr>
          <p:nvPr/>
        </p:nvSpPr>
        <p:spPr>
          <a:xfrm>
            <a:off x="462869" y="6297673"/>
            <a:ext cx="288000" cy="288000"/>
          </a:xfrm>
          <a:prstGeom prst="rect">
            <a:avLst/>
          </a:prstGeom>
          <a:solidFill>
            <a:srgbClr val="CF0A2C"/>
          </a:solidFill>
        </p:spPr>
        <p:txBody>
          <a:bodyPr vert="horz" lIns="0" tIns="48000" rIns="0" bIns="4800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8018E0-F71D-4BA1-A3CE-67D93F0A687E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wis721 BT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721 BT" pitchFamily="34" charset="0"/>
              <a:ea typeface="+mn-ea"/>
              <a:cs typeface="+mn-cs"/>
            </a:endParaRPr>
          </a:p>
        </p:txBody>
      </p:sp>
      <p:pic>
        <p:nvPicPr>
          <p:cNvPr id="7" name="Picture 2" descr="C:\Users\PTattini\Desktop\logo arcese.emf">
            <a:extLst>
              <a:ext uri="{FF2B5EF4-FFF2-40B4-BE49-F238E27FC236}">
                <a16:creationId xmlns:a16="http://schemas.microsoft.com/office/drawing/2014/main" id="{B7F06E7D-60CD-0784-E0F6-F414108A6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1961" y="6312989"/>
            <a:ext cx="1051200" cy="28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826A154F-D05F-1B4B-8F10-5D5085CED7DD}"/>
              </a:ext>
            </a:extLst>
          </p:cNvPr>
          <p:cNvSpPr/>
          <p:nvPr/>
        </p:nvSpPr>
        <p:spPr>
          <a:xfrm>
            <a:off x="1" y="0"/>
            <a:ext cx="4026196" cy="6858000"/>
          </a:xfrm>
          <a:custGeom>
            <a:avLst/>
            <a:gdLst>
              <a:gd name="connsiteX0" fmla="*/ 0 w 3019647"/>
              <a:gd name="connsiteY0" fmla="*/ 0 h 5143500"/>
              <a:gd name="connsiteX1" fmla="*/ 1722474 w 3019647"/>
              <a:gd name="connsiteY1" fmla="*/ 0 h 5143500"/>
              <a:gd name="connsiteX2" fmla="*/ 3019647 w 3019647"/>
              <a:gd name="connsiteY2" fmla="*/ 5143500 h 5143500"/>
              <a:gd name="connsiteX3" fmla="*/ 1722474 w 3019647"/>
              <a:gd name="connsiteY3" fmla="*/ 5143500 h 5143500"/>
              <a:gd name="connsiteX4" fmla="*/ 0 w 3019647"/>
              <a:gd name="connsiteY4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9647" h="5143500">
                <a:moveTo>
                  <a:pt x="0" y="0"/>
                </a:moveTo>
                <a:lnTo>
                  <a:pt x="1722474" y="0"/>
                </a:lnTo>
                <a:lnTo>
                  <a:pt x="3019647" y="5143500"/>
                </a:lnTo>
                <a:lnTo>
                  <a:pt x="1722474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CasellaDiTesto 4">
            <a:extLst>
              <a:ext uri="{FF2B5EF4-FFF2-40B4-BE49-F238E27FC236}">
                <a16:creationId xmlns:a16="http://schemas.microsoft.com/office/drawing/2014/main" id="{9E32FDC4-B252-A4A9-11A8-A39FEB986927}"/>
              </a:ext>
            </a:extLst>
          </p:cNvPr>
          <p:cNvSpPr txBox="1"/>
          <p:nvPr/>
        </p:nvSpPr>
        <p:spPr>
          <a:xfrm>
            <a:off x="2647270" y="433932"/>
            <a:ext cx="4787932" cy="5643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067" b="0" i="0" u="none" strike="noStrike" kern="1200" cap="none" spc="-200" normalizeH="0" baseline="0" noProof="0">
                <a:ln>
                  <a:noFill/>
                </a:ln>
                <a:solidFill>
                  <a:srgbClr val="CF0A2C"/>
                </a:solidFill>
                <a:effectLst/>
                <a:uLnTx/>
                <a:uFillTx/>
                <a:latin typeface="Swis721 Lt BT" pitchFamily="34" charset="0"/>
                <a:ea typeface="+mn-ea"/>
                <a:cs typeface="+mn-cs"/>
              </a:rPr>
              <a:t>Agenda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E4B063-813C-AD18-5D40-BAE60166A340}"/>
              </a:ext>
            </a:extLst>
          </p:cNvPr>
          <p:cNvGrpSpPr/>
          <p:nvPr/>
        </p:nvGrpSpPr>
        <p:grpSpPr>
          <a:xfrm>
            <a:off x="2841851" y="3084386"/>
            <a:ext cx="8609141" cy="595034"/>
            <a:chOff x="2443103" y="3458480"/>
            <a:chExt cx="6456856" cy="44627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61B809B-3150-AED5-4AFE-3173B600F5CA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CasellaDiTesto 21">
              <a:extLst>
                <a:ext uri="{FF2B5EF4-FFF2-40B4-BE49-F238E27FC236}">
                  <a16:creationId xmlns:a16="http://schemas.microsoft.com/office/drawing/2014/main" id="{EABA993B-CB18-4B5E-51F8-2C88BA00A25C}"/>
                </a:ext>
              </a:extLst>
            </p:cNvPr>
            <p:cNvSpPr txBox="1"/>
            <p:nvPr/>
          </p:nvSpPr>
          <p:spPr>
            <a:xfrm>
              <a:off x="3019647" y="3510834"/>
              <a:ext cx="5880312" cy="341585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Focus on </a:t>
              </a:r>
              <a:r>
                <a:rPr kumimoji="0" lang="en-US" sz="1867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Tavoli</a:t>
              </a: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TMS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CDE88-D7FB-8A26-A5FD-4A7FE11588BA}"/>
              </a:ext>
            </a:extLst>
          </p:cNvPr>
          <p:cNvGrpSpPr/>
          <p:nvPr/>
        </p:nvGrpSpPr>
        <p:grpSpPr>
          <a:xfrm>
            <a:off x="3070907" y="3976220"/>
            <a:ext cx="8609141" cy="946199"/>
            <a:chOff x="2443103" y="3458480"/>
            <a:chExt cx="6456856" cy="7096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70C3BC0-71B0-20F7-B3A3-F1FB5295534E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CasellaDiTesto 21">
              <a:extLst>
                <a:ext uri="{FF2B5EF4-FFF2-40B4-BE49-F238E27FC236}">
                  <a16:creationId xmlns:a16="http://schemas.microsoft.com/office/drawing/2014/main" id="{49A2CF0F-6AC6-52E2-50E2-E6D710E2B73C}"/>
                </a:ext>
              </a:extLst>
            </p:cNvPr>
            <p:cNvSpPr txBox="1"/>
            <p:nvPr/>
          </p:nvSpPr>
          <p:spPr>
            <a:xfrm>
              <a:off x="3019647" y="3488712"/>
              <a:ext cx="5880312" cy="679418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>
                <a:defRPr/>
              </a:pPr>
              <a:r>
                <a:rPr lang="en-US" sz="1867" b="1" dirty="0" err="1">
                  <a:solidFill>
                    <a:schemeClr val="bg1">
                      <a:lumMod val="85000"/>
                    </a:schemeClr>
                  </a:solidFill>
                  <a:latin typeface="Century Gothic"/>
                </a:rPr>
                <a:t>Iniziative</a:t>
              </a:r>
              <a:endParaRPr lang="en-US" sz="1867" b="1" dirty="0">
                <a:solidFill>
                  <a:schemeClr val="bg1">
                    <a:lumMod val="85000"/>
                  </a:schemeClr>
                </a:solidFill>
                <a:latin typeface="Century Gothic"/>
              </a:endParaRPr>
            </a:p>
            <a:p>
              <a:pPr lvl="0">
                <a:defRPr/>
              </a:pPr>
              <a:endPara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  <p:grpSp>
        <p:nvGrpSpPr>
          <p:cNvPr id="2" name="Group 16">
            <a:extLst>
              <a:ext uri="{FF2B5EF4-FFF2-40B4-BE49-F238E27FC236}">
                <a16:creationId xmlns:a16="http://schemas.microsoft.com/office/drawing/2014/main" id="{5D3C45CE-1CF5-6617-74B7-C4EF93617954}"/>
              </a:ext>
            </a:extLst>
          </p:cNvPr>
          <p:cNvGrpSpPr/>
          <p:nvPr/>
        </p:nvGrpSpPr>
        <p:grpSpPr>
          <a:xfrm>
            <a:off x="2647270" y="2250265"/>
            <a:ext cx="8609141" cy="595034"/>
            <a:chOff x="2443103" y="3458480"/>
            <a:chExt cx="6456856" cy="446276"/>
          </a:xfrm>
        </p:grpSpPr>
        <p:sp>
          <p:nvSpPr>
            <p:cNvPr id="3" name="Oval 17">
              <a:extLst>
                <a:ext uri="{FF2B5EF4-FFF2-40B4-BE49-F238E27FC236}">
                  <a16:creationId xmlns:a16="http://schemas.microsoft.com/office/drawing/2014/main" id="{C79D557A-A1D2-3919-81DF-7E959F04E7BF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CasellaDiTesto 21">
              <a:extLst>
                <a:ext uri="{FF2B5EF4-FFF2-40B4-BE49-F238E27FC236}">
                  <a16:creationId xmlns:a16="http://schemas.microsoft.com/office/drawing/2014/main" id="{E6FF684B-8A7A-69C8-9B28-3034A50DD07D}"/>
                </a:ext>
              </a:extLst>
            </p:cNvPr>
            <p:cNvSpPr txBox="1"/>
            <p:nvPr/>
          </p:nvSpPr>
          <p:spPr>
            <a:xfrm>
              <a:off x="3019647" y="3510834"/>
              <a:ext cx="5880312" cy="341585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798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79D7E-39EC-AEB8-D4EC-094A83E0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3F4EA87-74B5-B675-F20E-F8EBB909E683}"/>
              </a:ext>
            </a:extLst>
          </p:cNvPr>
          <p:cNvSpPr/>
          <p:nvPr/>
        </p:nvSpPr>
        <p:spPr>
          <a:xfrm>
            <a:off x="667512" y="1562610"/>
            <a:ext cx="6318504" cy="2021837"/>
          </a:xfrm>
          <a:prstGeom prst="rect">
            <a:avLst/>
          </a:prstGeom>
          <a:solidFill>
            <a:srgbClr val="FEE6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1200" dirty="0">
                <a:solidFill>
                  <a:schemeClr val="tx1"/>
                </a:solidFill>
              </a:rPr>
              <a:t>Abbiamo vinto il nuovo tendere VW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1200" dirty="0">
                <a:solidFill>
                  <a:schemeClr val="tx1"/>
                </a:solidFill>
              </a:rPr>
              <a:t>Riviste le priorità dei tavoli TMS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41027917-3D70-32EA-074B-99D71586C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1219140">
              <a:defRPr/>
            </a:pPr>
            <a:fld id="{03F3B942-8D34-44F8-88C7-498198B89D0D}" type="slidenum">
              <a:rPr lang="it-IT" kern="0">
                <a:solidFill>
                  <a:prstClr val="white"/>
                </a:solidFill>
              </a:rPr>
              <a:pPr defTabSz="1219140">
                <a:defRPr/>
              </a:pPr>
              <a:t>4</a:t>
            </a:fld>
            <a:endParaRPr lang="it-IT" kern="0">
              <a:solidFill>
                <a:prstClr val="white"/>
              </a:solidFill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C06F430D-67DD-FCF1-763E-D0B724E86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-27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Summary</a:t>
            </a:r>
            <a:endParaRPr lang="it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E47C56-91B8-B52B-4B18-8E37B2C5291C}"/>
              </a:ext>
            </a:extLst>
          </p:cNvPr>
          <p:cNvSpPr/>
          <p:nvPr/>
        </p:nvSpPr>
        <p:spPr>
          <a:xfrm>
            <a:off x="7361804" y="2954280"/>
            <a:ext cx="2893836" cy="63016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Numero di nuove attività (CR/WAV)</a:t>
            </a:r>
            <a:endParaRPr lang="en-GB" sz="1400" dirty="0"/>
          </a:p>
        </p:txBody>
      </p:sp>
      <p:graphicFrame>
        <p:nvGraphicFramePr>
          <p:cNvPr id="7" name="Grafico 40">
            <a:extLst>
              <a:ext uri="{FF2B5EF4-FFF2-40B4-BE49-F238E27FC236}">
                <a16:creationId xmlns:a16="http://schemas.microsoft.com/office/drawing/2014/main" id="{CA43A71D-F2CF-AD9A-BD73-6AE20D66C5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4979518"/>
              </p:ext>
            </p:extLst>
          </p:nvPr>
        </p:nvGraphicFramePr>
        <p:xfrm>
          <a:off x="1167384" y="3758184"/>
          <a:ext cx="9823704" cy="2800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D8B216D-D8F8-A04E-0E59-53F0776D0AA7}"/>
              </a:ext>
            </a:extLst>
          </p:cNvPr>
          <p:cNvSpPr/>
          <p:nvPr/>
        </p:nvSpPr>
        <p:spPr>
          <a:xfrm>
            <a:off x="7361803" y="2258961"/>
            <a:ext cx="2893836" cy="63016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Numero di attività completate negli ultimi 30 gg (CR/WAV)</a:t>
            </a:r>
            <a:endParaRPr lang="en-GB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9175E5-88B6-F6B4-B66A-51C40B55625E}"/>
              </a:ext>
            </a:extLst>
          </p:cNvPr>
          <p:cNvSpPr/>
          <p:nvPr/>
        </p:nvSpPr>
        <p:spPr>
          <a:xfrm>
            <a:off x="433228" y="1278814"/>
            <a:ext cx="2893836" cy="567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Principali aggiornamenti</a:t>
            </a:r>
            <a:endParaRPr lang="en-GB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1018A-5498-6385-D0D2-ACC3BCC277A9}"/>
              </a:ext>
            </a:extLst>
          </p:cNvPr>
          <p:cNvSpPr/>
          <p:nvPr/>
        </p:nvSpPr>
        <p:spPr>
          <a:xfrm>
            <a:off x="10255639" y="2258961"/>
            <a:ext cx="1446917" cy="63016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5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C0C05C-1692-7057-13AF-3C7DEFDFBBCA}"/>
              </a:ext>
            </a:extLst>
          </p:cNvPr>
          <p:cNvSpPr/>
          <p:nvPr/>
        </p:nvSpPr>
        <p:spPr>
          <a:xfrm>
            <a:off x="10255639" y="2954280"/>
            <a:ext cx="1446917" cy="63016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10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3DF9C-1F3D-0FE7-F453-ECAFAF135FDA}"/>
              </a:ext>
            </a:extLst>
          </p:cNvPr>
          <p:cNvSpPr/>
          <p:nvPr/>
        </p:nvSpPr>
        <p:spPr>
          <a:xfrm>
            <a:off x="7361803" y="1563642"/>
            <a:ext cx="2893836" cy="63016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Numero di attività in rilascio nei prossimi 30 gg (CR/WAV)</a:t>
            </a:r>
            <a:endParaRPr lang="en-GB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93891F-1AE8-887E-D6AF-53955CD579C7}"/>
              </a:ext>
            </a:extLst>
          </p:cNvPr>
          <p:cNvSpPr/>
          <p:nvPr/>
        </p:nvSpPr>
        <p:spPr>
          <a:xfrm>
            <a:off x="10255639" y="1563642"/>
            <a:ext cx="1446917" cy="63016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7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3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B894-08E1-6F6E-CDF4-62F3E42F4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20">
            <a:extLst>
              <a:ext uri="{FF2B5EF4-FFF2-40B4-BE49-F238E27FC236}">
                <a16:creationId xmlns:a16="http://schemas.microsoft.com/office/drawing/2014/main" id="{7DB027ED-14F6-9BF7-93C1-D1E13AF0B104}"/>
              </a:ext>
            </a:extLst>
          </p:cNvPr>
          <p:cNvSpPr txBox="1">
            <a:spLocks/>
          </p:cNvSpPr>
          <p:nvPr/>
        </p:nvSpPr>
        <p:spPr>
          <a:xfrm>
            <a:off x="462869" y="6297673"/>
            <a:ext cx="288000" cy="288000"/>
          </a:xfrm>
          <a:prstGeom prst="rect">
            <a:avLst/>
          </a:prstGeom>
          <a:solidFill>
            <a:srgbClr val="CF0A2C"/>
          </a:solidFill>
        </p:spPr>
        <p:txBody>
          <a:bodyPr vert="horz" lIns="0" tIns="48000" rIns="0" bIns="4800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8018E0-F71D-4BA1-A3CE-67D93F0A687E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wis721 BT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721 BT" pitchFamily="34" charset="0"/>
              <a:ea typeface="+mn-ea"/>
              <a:cs typeface="+mn-cs"/>
            </a:endParaRPr>
          </a:p>
        </p:txBody>
      </p:sp>
      <p:pic>
        <p:nvPicPr>
          <p:cNvPr id="7" name="Picture 2" descr="C:\Users\PTattini\Desktop\logo arcese.emf">
            <a:extLst>
              <a:ext uri="{FF2B5EF4-FFF2-40B4-BE49-F238E27FC236}">
                <a16:creationId xmlns:a16="http://schemas.microsoft.com/office/drawing/2014/main" id="{F12B0A09-FCC5-1DF1-D02D-E79CBF5CB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1961" y="6312989"/>
            <a:ext cx="1051200" cy="28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35C8FA2F-0635-FEAC-8DF8-39D42E2CF9FB}"/>
              </a:ext>
            </a:extLst>
          </p:cNvPr>
          <p:cNvSpPr/>
          <p:nvPr/>
        </p:nvSpPr>
        <p:spPr>
          <a:xfrm>
            <a:off x="1" y="0"/>
            <a:ext cx="4026196" cy="6858000"/>
          </a:xfrm>
          <a:custGeom>
            <a:avLst/>
            <a:gdLst>
              <a:gd name="connsiteX0" fmla="*/ 0 w 3019647"/>
              <a:gd name="connsiteY0" fmla="*/ 0 h 5143500"/>
              <a:gd name="connsiteX1" fmla="*/ 1722474 w 3019647"/>
              <a:gd name="connsiteY1" fmla="*/ 0 h 5143500"/>
              <a:gd name="connsiteX2" fmla="*/ 3019647 w 3019647"/>
              <a:gd name="connsiteY2" fmla="*/ 5143500 h 5143500"/>
              <a:gd name="connsiteX3" fmla="*/ 1722474 w 3019647"/>
              <a:gd name="connsiteY3" fmla="*/ 5143500 h 5143500"/>
              <a:gd name="connsiteX4" fmla="*/ 0 w 3019647"/>
              <a:gd name="connsiteY4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9647" h="5143500">
                <a:moveTo>
                  <a:pt x="0" y="0"/>
                </a:moveTo>
                <a:lnTo>
                  <a:pt x="1722474" y="0"/>
                </a:lnTo>
                <a:lnTo>
                  <a:pt x="3019647" y="5143500"/>
                </a:lnTo>
                <a:lnTo>
                  <a:pt x="1722474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CasellaDiTesto 4">
            <a:extLst>
              <a:ext uri="{FF2B5EF4-FFF2-40B4-BE49-F238E27FC236}">
                <a16:creationId xmlns:a16="http://schemas.microsoft.com/office/drawing/2014/main" id="{5CE8E3F5-97DC-0D0B-561D-15173D29EAF8}"/>
              </a:ext>
            </a:extLst>
          </p:cNvPr>
          <p:cNvSpPr txBox="1"/>
          <p:nvPr/>
        </p:nvSpPr>
        <p:spPr>
          <a:xfrm>
            <a:off x="2647270" y="433932"/>
            <a:ext cx="4787932" cy="5643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067" b="0" i="0" u="none" strike="noStrike" kern="1200" cap="none" spc="-200" normalizeH="0" baseline="0" noProof="0">
                <a:ln>
                  <a:noFill/>
                </a:ln>
                <a:solidFill>
                  <a:srgbClr val="CF0A2C"/>
                </a:solidFill>
                <a:effectLst/>
                <a:uLnTx/>
                <a:uFillTx/>
                <a:latin typeface="Swis721 Lt BT" pitchFamily="34" charset="0"/>
                <a:ea typeface="+mn-ea"/>
                <a:cs typeface="+mn-cs"/>
              </a:rPr>
              <a:t>Agenda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0D5792A-A3AE-4B82-95FA-9A2256B4B837}"/>
              </a:ext>
            </a:extLst>
          </p:cNvPr>
          <p:cNvGrpSpPr/>
          <p:nvPr/>
        </p:nvGrpSpPr>
        <p:grpSpPr>
          <a:xfrm>
            <a:off x="2841851" y="3084386"/>
            <a:ext cx="8609141" cy="595034"/>
            <a:chOff x="2443103" y="3458480"/>
            <a:chExt cx="6456856" cy="44627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D4AEE4C-8C92-6D27-576F-E930D8B18AA7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CasellaDiTesto 21">
              <a:extLst>
                <a:ext uri="{FF2B5EF4-FFF2-40B4-BE49-F238E27FC236}">
                  <a16:creationId xmlns:a16="http://schemas.microsoft.com/office/drawing/2014/main" id="{F429F6BF-36E9-8C04-B427-2D1749BA18C4}"/>
                </a:ext>
              </a:extLst>
            </p:cNvPr>
            <p:cNvSpPr txBox="1"/>
            <p:nvPr/>
          </p:nvSpPr>
          <p:spPr>
            <a:xfrm>
              <a:off x="3019647" y="3510834"/>
              <a:ext cx="5880312" cy="341585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Focus on </a:t>
              </a:r>
              <a:r>
                <a:rPr kumimoji="0" lang="en-US" sz="1867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Tavoli</a:t>
              </a: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TMS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FCE59C-C0FA-632A-8982-2DCE9006171A}"/>
              </a:ext>
            </a:extLst>
          </p:cNvPr>
          <p:cNvGrpSpPr/>
          <p:nvPr/>
        </p:nvGrpSpPr>
        <p:grpSpPr>
          <a:xfrm>
            <a:off x="3070907" y="3976220"/>
            <a:ext cx="8609141" cy="946199"/>
            <a:chOff x="2443103" y="3458480"/>
            <a:chExt cx="6456856" cy="7096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278F3E1-2A4D-FBC5-AF78-7BB21015F645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CasellaDiTesto 21">
              <a:extLst>
                <a:ext uri="{FF2B5EF4-FFF2-40B4-BE49-F238E27FC236}">
                  <a16:creationId xmlns:a16="http://schemas.microsoft.com/office/drawing/2014/main" id="{90F12EC9-B674-CF0D-2B47-DE208AF7583E}"/>
                </a:ext>
              </a:extLst>
            </p:cNvPr>
            <p:cNvSpPr txBox="1"/>
            <p:nvPr/>
          </p:nvSpPr>
          <p:spPr>
            <a:xfrm>
              <a:off x="3019647" y="3488712"/>
              <a:ext cx="5880312" cy="679418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>
                <a:defRPr/>
              </a:pPr>
              <a:r>
                <a:rPr lang="en-US" sz="1867" b="1" dirty="0" err="1">
                  <a:solidFill>
                    <a:schemeClr val="bg1">
                      <a:lumMod val="85000"/>
                    </a:schemeClr>
                  </a:solidFill>
                  <a:latin typeface="Century Gothic"/>
                </a:rPr>
                <a:t>Iniziative</a:t>
              </a:r>
              <a:endParaRPr lang="en-US" sz="1867" b="1" dirty="0">
                <a:solidFill>
                  <a:schemeClr val="bg1">
                    <a:lumMod val="85000"/>
                  </a:schemeClr>
                </a:solidFill>
                <a:latin typeface="Century Gothic"/>
              </a:endParaRPr>
            </a:p>
            <a:p>
              <a:pPr lvl="0">
                <a:defRPr/>
              </a:pPr>
              <a:endPara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  <p:grpSp>
        <p:nvGrpSpPr>
          <p:cNvPr id="2" name="Group 16">
            <a:extLst>
              <a:ext uri="{FF2B5EF4-FFF2-40B4-BE49-F238E27FC236}">
                <a16:creationId xmlns:a16="http://schemas.microsoft.com/office/drawing/2014/main" id="{307CBFF5-516C-C0BB-75C8-02753D698968}"/>
              </a:ext>
            </a:extLst>
          </p:cNvPr>
          <p:cNvGrpSpPr/>
          <p:nvPr/>
        </p:nvGrpSpPr>
        <p:grpSpPr>
          <a:xfrm>
            <a:off x="2647270" y="2250265"/>
            <a:ext cx="8609141" cy="595034"/>
            <a:chOff x="2443103" y="3458480"/>
            <a:chExt cx="6456856" cy="446276"/>
          </a:xfrm>
        </p:grpSpPr>
        <p:sp>
          <p:nvSpPr>
            <p:cNvPr id="3" name="Oval 17">
              <a:extLst>
                <a:ext uri="{FF2B5EF4-FFF2-40B4-BE49-F238E27FC236}">
                  <a16:creationId xmlns:a16="http://schemas.microsoft.com/office/drawing/2014/main" id="{EFC131F9-188B-9629-ECF8-0638BFD9AE55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CasellaDiTesto 21">
              <a:extLst>
                <a:ext uri="{FF2B5EF4-FFF2-40B4-BE49-F238E27FC236}">
                  <a16:creationId xmlns:a16="http://schemas.microsoft.com/office/drawing/2014/main" id="{E88AAA73-70CF-DFA9-614B-8DE6DA568694}"/>
                </a:ext>
              </a:extLst>
            </p:cNvPr>
            <p:cNvSpPr txBox="1"/>
            <p:nvPr/>
          </p:nvSpPr>
          <p:spPr>
            <a:xfrm>
              <a:off x="3019647" y="3510834"/>
              <a:ext cx="5880312" cy="341585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4756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8873D-4E53-3730-2F35-8B4B57D2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FF1EA8-3571-1569-8886-EAA256E170A4}"/>
              </a:ext>
            </a:extLst>
          </p:cNvPr>
          <p:cNvGraphicFramePr>
            <a:graphicFrameLocks noGrp="1"/>
          </p:cNvGraphicFramePr>
          <p:nvPr/>
        </p:nvGraphicFramePr>
        <p:xfrm>
          <a:off x="0" y="538047"/>
          <a:ext cx="12192000" cy="632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989216974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123446433"/>
                    </a:ext>
                  </a:extLst>
                </a:gridCol>
                <a:gridCol w="1144758">
                  <a:extLst>
                    <a:ext uri="{9D8B030D-6E8A-4147-A177-3AD203B41FA5}">
                      <a16:colId xmlns:a16="http://schemas.microsoft.com/office/drawing/2014/main" val="3129330950"/>
                    </a:ext>
                  </a:extLst>
                </a:gridCol>
                <a:gridCol w="2572026">
                  <a:extLst>
                    <a:ext uri="{9D8B030D-6E8A-4147-A177-3AD203B41FA5}">
                      <a16:colId xmlns:a16="http://schemas.microsoft.com/office/drawing/2014/main" val="2186847806"/>
                    </a:ext>
                  </a:extLst>
                </a:gridCol>
                <a:gridCol w="748040">
                  <a:extLst>
                    <a:ext uri="{9D8B030D-6E8A-4147-A177-3AD203B41FA5}">
                      <a16:colId xmlns:a16="http://schemas.microsoft.com/office/drawing/2014/main" val="3345004564"/>
                    </a:ext>
                  </a:extLst>
                </a:gridCol>
                <a:gridCol w="2531038">
                  <a:extLst>
                    <a:ext uri="{9D8B030D-6E8A-4147-A177-3AD203B41FA5}">
                      <a16:colId xmlns:a16="http://schemas.microsoft.com/office/drawing/2014/main" val="3476106144"/>
                    </a:ext>
                  </a:extLst>
                </a:gridCol>
                <a:gridCol w="3651818">
                  <a:extLst>
                    <a:ext uri="{9D8B030D-6E8A-4147-A177-3AD203B41FA5}">
                      <a16:colId xmlns:a16="http://schemas.microsoft.com/office/drawing/2014/main" val="3605951482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3537875777"/>
                    </a:ext>
                  </a:extLst>
                </a:gridCol>
              </a:tblGrid>
              <a:tr h="201175">
                <a:tc>
                  <a:txBody>
                    <a:bodyPr/>
                    <a:lstStyle/>
                    <a:p>
                      <a:pPr algn="ctr"/>
                      <a:r>
                        <a:rPr lang="it-IT" sz="1100"/>
                        <a:t>PRIO</a:t>
                      </a:r>
                      <a:endParaRPr lang="en-GB" sz="1100"/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err="1"/>
                        <a:t>Codice</a:t>
                      </a:r>
                      <a:endParaRPr lang="en-GB" sz="1100" dirty="0"/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/>
                        <a:t>Tavolo</a:t>
                      </a:r>
                      <a:endParaRPr lang="en-GB" sz="1100" dirty="0"/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/>
                        <a:t>Descrizione</a:t>
                      </a:r>
                      <a:endParaRPr lang="en-GB" sz="1100"/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/>
                        <a:t>Stato</a:t>
                      </a:r>
                      <a:endParaRPr lang="en-GB" sz="1100"/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/>
                        <a:t>Last Updates</a:t>
                      </a:r>
                      <a:endParaRPr lang="en-GB" sz="1100"/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/>
                        <a:t>Next Step</a:t>
                      </a:r>
                      <a:endParaRPr lang="en-GB" sz="1100"/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/>
                        <a:t>Live</a:t>
                      </a:r>
                      <a:endParaRPr lang="en-GB" sz="1100" dirty="0"/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304248"/>
                  </a:ext>
                </a:extLst>
              </a:tr>
              <a:tr h="623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1 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>
                          <a:effectLst/>
                          <a:latin typeface="+mn-lt"/>
                        </a:rPr>
                        <a:t>WAV328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Planning</a:t>
                      </a:r>
                      <a:endParaRPr lang="en-GB" sz="1100" b="1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Strutturazione del processo di pianificazione per il mondo LTL, dalla ricezione degli ordini all’avvio dell’</a:t>
                      </a:r>
                      <a:r>
                        <a:rPr lang="it-IT" sz="1100" dirty="0" err="1">
                          <a:effectLst/>
                          <a:latin typeface="+mn-lt"/>
                        </a:rPr>
                        <a:t>execution</a:t>
                      </a:r>
                      <a:endParaRPr lang="it-IT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Stima tempi e costi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Effettuato incontro di simulazione con Sima che ha dato errore per mancanza della chiave di PTV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Revisione delle regole di SGA </a:t>
                      </a:r>
                      <a:r>
                        <a:rPr lang="it-IT" sz="1100" b="1" dirty="0">
                          <a:effectLst/>
                          <a:latin typeface="+mn-lt"/>
                        </a:rPr>
                        <a:t>@Business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Da fissare riunione con PTV per l’attivazione di un’utenza di test e per attivare </a:t>
                      </a:r>
                      <a:r>
                        <a:rPr lang="it-IT" sz="1100" b="0" dirty="0" err="1">
                          <a:effectLst/>
                          <a:latin typeface="+mn-lt"/>
                        </a:rPr>
                        <a:t>Apikey</a:t>
                      </a:r>
                      <a:r>
                        <a:rPr lang="it-IT" sz="1100" b="0" dirty="0">
                          <a:effectLst/>
                          <a:latin typeface="+mn-lt"/>
                        </a:rPr>
                        <a:t> per effettuare i test </a:t>
                      </a:r>
                      <a:r>
                        <a:rPr lang="it-IT" sz="1100" b="1" dirty="0">
                          <a:effectLst/>
                          <a:latin typeface="+mn-lt"/>
                        </a:rPr>
                        <a:t>@T&amp;T/PTV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b="1" dirty="0" err="1">
                          <a:effectLst/>
                          <a:latin typeface="+mn-lt"/>
                        </a:rPr>
                        <a:t>tbd</a:t>
                      </a:r>
                      <a:endParaRPr lang="it-IT" sz="1100" b="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218341"/>
                  </a:ext>
                </a:extLst>
              </a:tr>
              <a:tr h="658257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2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b="1" dirty="0">
                          <a:effectLst/>
                          <a:latin typeface="+mn-lt"/>
                        </a:rPr>
                        <a:t>WAV289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XDOCK</a:t>
                      </a:r>
                      <a:endParaRPr lang="en-GB" sz="1100" b="1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Revisione dei processi in magazzino per la gestione guidata e controllata del </a:t>
                      </a:r>
                      <a:r>
                        <a:rPr lang="it-IT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Xdock</a:t>
                      </a:r>
                      <a:r>
                        <a:rPr lang="it-IT" sz="11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con la registrazione delle movimentazioni interne al magazzino</a:t>
                      </a:r>
                      <a:endParaRPr lang="it-IT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Valutazione della soluzione</a:t>
                      </a: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Errore di autorizzazioni su SGA in corso di verifica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Da condividere i dettagli dell’errore con Sima </a:t>
                      </a:r>
                      <a:r>
                        <a:rPr lang="it-IT" sz="1100" b="1" dirty="0">
                          <a:effectLst/>
                          <a:latin typeface="+mn-lt"/>
                        </a:rPr>
                        <a:t>@T&amp;T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Da fissare una seconda riunione con Sima per la copertura dei requisiti a causa dei rallentamenti su test </a:t>
                      </a:r>
                      <a:r>
                        <a:rPr lang="it-IT" sz="1100" b="1" dirty="0">
                          <a:effectLst/>
                          <a:latin typeface="+mn-lt"/>
                        </a:rPr>
                        <a:t>@T&amp;T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it-IT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tbd</a:t>
                      </a: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39808"/>
                  </a:ext>
                </a:extLst>
              </a:tr>
              <a:tr h="934801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3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b="1" dirty="0">
                          <a:effectLst/>
                          <a:latin typeface="+mn-lt"/>
                        </a:rPr>
                        <a:t>WAV327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Network Partner</a:t>
                      </a:r>
                      <a:endParaRPr lang="en-GB" sz="1100" b="1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Definizione dei diversi modelli di gestione dei partner in termini di processi, integrazioni e hardware, per poi organizzare un piano di migrazione. Il focus è la gestione tramite integrazione EDI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Approval</a:t>
                      </a: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it-IT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Plausibility</a:t>
                      </a: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100" dirty="0">
                          <a:effectLst/>
                          <a:latin typeface="+mn-lt"/>
                        </a:rPr>
                        <a:t>In </a:t>
                      </a:r>
                      <a:r>
                        <a:rPr lang="en-GB" sz="1100" dirty="0" err="1">
                          <a:effectLst/>
                          <a:latin typeface="+mn-lt"/>
                        </a:rPr>
                        <a:t>attesa</a:t>
                      </a:r>
                      <a:r>
                        <a:rPr lang="en-GB" sz="1100" dirty="0">
                          <a:effectLst/>
                          <a:latin typeface="+mn-lt"/>
                        </a:rPr>
                        <a:t> </a:t>
                      </a:r>
                      <a:r>
                        <a:rPr lang="en-GB" sz="1100" dirty="0" err="1">
                          <a:effectLst/>
                          <a:latin typeface="+mn-lt"/>
                        </a:rPr>
                        <a:t>dei</a:t>
                      </a:r>
                      <a:r>
                        <a:rPr lang="en-GB" sz="1100" dirty="0">
                          <a:effectLst/>
                          <a:latin typeface="+mn-lt"/>
                        </a:rPr>
                        <a:t> </a:t>
                      </a:r>
                      <a:r>
                        <a:rPr lang="en-GB" sz="1100" dirty="0" err="1">
                          <a:effectLst/>
                          <a:latin typeface="+mn-lt"/>
                        </a:rPr>
                        <a:t>benefici</a:t>
                      </a:r>
                      <a:r>
                        <a:rPr lang="en-GB" sz="1100" dirty="0">
                          <a:effectLst/>
                          <a:latin typeface="+mn-lt"/>
                        </a:rPr>
                        <a:t> </a:t>
                      </a:r>
                      <a:r>
                        <a:rPr lang="en-GB" sz="1100" dirty="0" err="1">
                          <a:effectLst/>
                          <a:latin typeface="+mn-lt"/>
                        </a:rPr>
                        <a:t>attesi</a:t>
                      </a:r>
                      <a:r>
                        <a:rPr lang="en-GB" sz="1100" dirty="0">
                          <a:effectLst/>
                          <a:latin typeface="+mn-lt"/>
                        </a:rPr>
                        <a:t> prima di </a:t>
                      </a:r>
                      <a:r>
                        <a:rPr lang="en-GB" sz="1100" dirty="0" err="1">
                          <a:effectLst/>
                          <a:latin typeface="+mn-lt"/>
                        </a:rPr>
                        <a:t>procedere</a:t>
                      </a:r>
                      <a:r>
                        <a:rPr lang="en-GB" sz="1100" dirty="0">
                          <a:effectLst/>
                          <a:latin typeface="+mn-lt"/>
                        </a:rPr>
                        <a:t> con approval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100">
                          <a:effectLst/>
                          <a:latin typeface="+mn-lt"/>
                        </a:rPr>
                        <a:t>Definizione benefici attesi </a:t>
                      </a:r>
                      <a:r>
                        <a:rPr lang="en-GB" sz="1100" b="1">
                          <a:effectLst/>
                          <a:latin typeface="+mn-lt"/>
                        </a:rPr>
                        <a:t>@Business </a:t>
                      </a:r>
                    </a:p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100">
                          <a:effectLst/>
                          <a:latin typeface="+mn-lt"/>
                        </a:rPr>
                        <a:t>Passaggi di approval plausibility </a:t>
                      </a:r>
                      <a:r>
                        <a:rPr lang="en-GB" sz="1100" b="1">
                          <a:effectLst/>
                          <a:latin typeface="+mn-lt"/>
                        </a:rPr>
                        <a:t>@T&amp;T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it-IT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tbd</a:t>
                      </a: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969510"/>
                  </a:ext>
                </a:extLst>
              </a:tr>
              <a:tr h="934801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it-IT" sz="1100" b="1" dirty="0">
                          <a:effectLst/>
                          <a:latin typeface="+mn-lt"/>
                        </a:rPr>
                        <a:t>WAV382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it-IT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Associazione Addebiti</a:t>
                      </a:r>
                      <a:endParaRPr lang="it-IT" sz="1100" b="1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Valutazione del modulo per verifica, controllo e gestione delle </a:t>
                      </a:r>
                      <a:r>
                        <a:rPr lang="it-IT" sz="1100" dirty="0" err="1">
                          <a:effectLst/>
                          <a:latin typeface="+mn-lt"/>
                        </a:rPr>
                        <a:t>prefatture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Hypercare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 err="1">
                          <a:effectLst/>
                          <a:latin typeface="+mn-lt"/>
                        </a:rPr>
                        <a:t>Effettuata</a:t>
                      </a:r>
                      <a:r>
                        <a:rPr lang="fr-FR" sz="1100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100" dirty="0" err="1">
                          <a:effectLst/>
                          <a:latin typeface="+mn-lt"/>
                        </a:rPr>
                        <a:t>riunione</a:t>
                      </a:r>
                      <a:r>
                        <a:rPr lang="fr-FR" sz="1100" dirty="0">
                          <a:effectLst/>
                          <a:latin typeface="+mn-lt"/>
                        </a:rPr>
                        <a:t> di </a:t>
                      </a:r>
                      <a:r>
                        <a:rPr lang="fr-FR" sz="1100" dirty="0" err="1">
                          <a:effectLst/>
                          <a:latin typeface="+mn-lt"/>
                        </a:rPr>
                        <a:t>allineamento</a:t>
                      </a:r>
                      <a:r>
                        <a:rPr lang="fr-FR" sz="1100" dirty="0">
                          <a:effectLst/>
                          <a:latin typeface="+mn-lt"/>
                        </a:rPr>
                        <a:t> sui feedback di Sima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b="0" dirty="0" err="1">
                          <a:effectLst/>
                          <a:latin typeface="+mn-lt"/>
                        </a:rPr>
                        <a:t>Hypercare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in corso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b="0" dirty="0" err="1">
                          <a:effectLst/>
                          <a:latin typeface="+mn-lt"/>
                        </a:rPr>
                        <a:t>Definizione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piano di roll-out </a:t>
                      </a:r>
                      <a:r>
                        <a:rPr lang="fr-FR" sz="1100" b="1" dirty="0">
                          <a:effectLst/>
                          <a:latin typeface="+mn-lt"/>
                        </a:rPr>
                        <a:t>@Business</a:t>
                      </a:r>
                    </a:p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dirty="0">
                          <a:effectLst/>
                          <a:latin typeface="+mn-lt"/>
                        </a:rPr>
                        <a:t>Feedback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attivazione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fatturazione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cross e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apertura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nuova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progettualità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100" b="1" dirty="0">
                          <a:effectLst/>
                          <a:latin typeface="+mn-lt"/>
                        </a:rPr>
                        <a:t>@Business</a:t>
                      </a:r>
                    </a:p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dirty="0">
                          <a:effectLst/>
                          <a:latin typeface="+mn-lt"/>
                        </a:rPr>
                        <a:t>In corso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verifiche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su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segnalazioni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emerse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dopo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test in filiale</a:t>
                      </a:r>
                      <a:r>
                        <a:rPr lang="fr-FR" sz="1100" b="1" dirty="0">
                          <a:effectLst/>
                          <a:latin typeface="+mn-lt"/>
                        </a:rPr>
                        <a:t> @T&amp;T</a:t>
                      </a:r>
                    </a:p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dirty="0">
                          <a:effectLst/>
                          <a:latin typeface="+mn-lt"/>
                        </a:rPr>
                        <a:t>Test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dopo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risoluzione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segnalazioni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100" b="1" dirty="0">
                          <a:effectLst/>
                          <a:latin typeface="+mn-lt"/>
                        </a:rPr>
                        <a:t>@Business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base">
                        <a:buFont typeface="Arial" panose="020B0604020202020204" pitchFamily="34" charset="0"/>
                        <a:buNone/>
                      </a:pPr>
                      <a:r>
                        <a:rPr lang="it-IT" sz="1100" b="1" dirty="0">
                          <a:effectLst/>
                          <a:latin typeface="+mn-lt"/>
                        </a:rPr>
                        <a:t>10/07</a:t>
                      </a:r>
                    </a:p>
                    <a:p>
                      <a:pPr marL="0" indent="0" fontAlgn="base">
                        <a:buFont typeface="Arial" panose="020B0604020202020204" pitchFamily="34" charset="0"/>
                        <a:buNone/>
                      </a:pPr>
                      <a:r>
                        <a:rPr lang="it-IT" sz="11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it-IT" sz="1100" b="1" dirty="0" err="1">
                          <a:effectLst/>
                          <a:latin typeface="+mn-lt"/>
                        </a:rPr>
                        <a:t>passivoCTL</a:t>
                      </a:r>
                      <a:r>
                        <a:rPr lang="it-IT" sz="1100" b="1" dirty="0">
                          <a:effectLst/>
                          <a:latin typeface="+mn-lt"/>
                        </a:rPr>
                        <a:t>)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858577"/>
                  </a:ext>
                </a:extLst>
              </a:tr>
              <a:tr h="52808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GB" sz="1100" dirty="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b="1" dirty="0">
                          <a:effectLst/>
                          <a:latin typeface="+mn-lt"/>
                        </a:rPr>
                        <a:t>WAV323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Ricalcolo Massivo </a:t>
                      </a:r>
                      <a:r>
                        <a:rPr lang="en-GB" sz="11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Valorizzazioni</a:t>
                      </a:r>
                      <a:endParaRPr lang="en-GB" sz="1100" b="1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Attivazione del ricalcolo massivo delle valorizzazioni con schedulazione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Pianificazione sviluppi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Ricevuta approvazione da Business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dirty="0">
                          <a:effectLst/>
                          <a:latin typeface="+mn-lt"/>
                        </a:rPr>
                        <a:t>In </a:t>
                      </a:r>
                      <a:r>
                        <a:rPr lang="fr-FR" sz="1100" b="0" dirty="0" err="1">
                          <a:effectLst/>
                          <a:latin typeface="+mn-lt"/>
                        </a:rPr>
                        <a:t>attesa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 di </a:t>
                      </a:r>
                      <a:r>
                        <a:rPr lang="fr-FR" sz="1100" b="0">
                          <a:effectLst/>
                          <a:latin typeface="+mn-lt"/>
                        </a:rPr>
                        <a:t>sviluppi </a:t>
                      </a:r>
                      <a:r>
                        <a:rPr lang="fr-FR" sz="1100" b="0" dirty="0">
                          <a:effectLst/>
                          <a:latin typeface="+mn-lt"/>
                        </a:rPr>
                        <a:t>di Sima </a:t>
                      </a:r>
                      <a:r>
                        <a:rPr lang="fr-FR" sz="1100" b="1" dirty="0">
                          <a:effectLst/>
                          <a:latin typeface="+mn-lt"/>
                        </a:rPr>
                        <a:t>@Sima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base">
                        <a:buFont typeface="Arial" panose="020B0604020202020204" pitchFamily="34" charset="0"/>
                        <a:buNone/>
                      </a:pPr>
                      <a:r>
                        <a:rPr lang="it-IT" sz="1100" b="1" dirty="0">
                          <a:effectLst/>
                          <a:latin typeface="+mn-lt"/>
                        </a:rPr>
                        <a:t>25/9 – tbc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82231"/>
                  </a:ext>
                </a:extLst>
              </a:tr>
              <a:tr h="1402202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6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b="1" dirty="0">
                          <a:effectLst/>
                          <a:latin typeface="+mn-lt"/>
                        </a:rPr>
                        <a:t>WAV200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Costi Handling</a:t>
                      </a:r>
                      <a:endParaRPr lang="en-GB" sz="1100" b="1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Gestione interna a TMS dei costi di </a:t>
                      </a:r>
                      <a:r>
                        <a:rPr lang="it-IT" sz="1100" dirty="0" err="1">
                          <a:effectLst/>
                          <a:latin typeface="+mn-lt"/>
                        </a:rPr>
                        <a:t>handling</a:t>
                      </a:r>
                      <a:r>
                        <a:rPr lang="it-IT" sz="1100" dirty="0">
                          <a:effectLst/>
                          <a:latin typeface="+mn-lt"/>
                        </a:rPr>
                        <a:t> dei magazzini ed integrazione con BI Finance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Test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Simulazione e monitoraggio in corso</a:t>
                      </a:r>
                    </a:p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Impossibilità tecnica nell’aggiunta del filtro per la ripartizione mensile</a:t>
                      </a:r>
                    </a:p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Impossibilità tecnica per l’estrazione degli addebiti associati ai viaggi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Ripartizione UDM: non configurabile stato «Partito+»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Effettuato ribaltamento del DB da SGA </a:t>
                      </a:r>
                      <a:r>
                        <a:rPr lang="it-IT" sz="1100" b="0" dirty="0" err="1">
                          <a:effectLst/>
                          <a:latin typeface="+mn-lt"/>
                        </a:rPr>
                        <a:t>Prod</a:t>
                      </a:r>
                      <a:r>
                        <a:rPr lang="it-IT" sz="1100" b="0" dirty="0">
                          <a:effectLst/>
                          <a:latin typeface="+mn-lt"/>
                        </a:rPr>
                        <a:t> a SGA Test</a:t>
                      </a:r>
                      <a:endParaRPr lang="it-IT" sz="1100" b="1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Ripartizione costi dei carrelli: in corso risoluzione del bug per l’utilizzo della tariffa cumulativa </a:t>
                      </a:r>
                      <a:r>
                        <a:rPr lang="it-IT" sz="1100" b="1" dirty="0">
                          <a:effectLst/>
                          <a:latin typeface="+mn-lt"/>
                        </a:rPr>
                        <a:t>@Sima/T&amp;T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Configurazione tariffe in test, calcolo addebiti e condivisione risultati </a:t>
                      </a:r>
                      <a:r>
                        <a:rPr lang="it-IT" sz="1100" b="1" dirty="0">
                          <a:effectLst/>
                          <a:latin typeface="+mn-lt"/>
                        </a:rPr>
                        <a:t>T&amp;T/Business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base">
                        <a:buFont typeface="Arial" panose="020B0604020202020204" pitchFamily="34" charset="0"/>
                        <a:buNone/>
                      </a:pPr>
                      <a:r>
                        <a:rPr lang="it-IT" sz="1100" b="1" dirty="0">
                          <a:effectLst/>
                          <a:latin typeface="+mn-lt"/>
                        </a:rPr>
                        <a:t>11/1</a:t>
                      </a:r>
                      <a:endParaRPr lang="it-IT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722513"/>
                  </a:ext>
                </a:extLst>
              </a:tr>
              <a:tr h="15580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endParaRPr lang="en-GB" sz="1100" b="1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endParaRPr lang="en-GB" sz="1100" b="1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endParaRPr lang="en-GB" sz="1100" dirty="0"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endParaRPr lang="it-IT" sz="1100" dirty="0"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base">
                        <a:buFont typeface="Arial" panose="020B0604020202020204" pitchFamily="34" charset="0"/>
                        <a:buNone/>
                      </a:pPr>
                      <a:endParaRPr lang="it-IT" sz="1100" dirty="0"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13924"/>
                  </a:ext>
                </a:extLst>
              </a:tr>
              <a:tr h="56667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b="1" dirty="0">
                          <a:effectLst/>
                          <a:latin typeface="+mn-lt"/>
                        </a:rPr>
                        <a:t>WAV416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b="1" dirty="0">
                          <a:effectLst/>
                          <a:latin typeface="+mn-lt"/>
                        </a:rPr>
                        <a:t>Adozione DeCA – Arcese Spagna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GB" sz="1100" dirty="0">
                          <a:effectLst/>
                          <a:latin typeface="+mn-lt"/>
                        </a:rPr>
                        <a:t>Adozione del DeCA </a:t>
                      </a:r>
                      <a:r>
                        <a:rPr lang="en-GB" sz="1100" dirty="0" err="1">
                          <a:effectLst/>
                          <a:latin typeface="+mn-lt"/>
                        </a:rPr>
                        <a:t>richiesta</a:t>
                      </a:r>
                      <a:r>
                        <a:rPr lang="en-GB" sz="1100" dirty="0">
                          <a:effectLst/>
                          <a:latin typeface="+mn-lt"/>
                        </a:rPr>
                        <a:t> </a:t>
                      </a:r>
                      <a:r>
                        <a:rPr lang="en-GB" sz="1100" dirty="0" err="1">
                          <a:effectLst/>
                          <a:latin typeface="+mn-lt"/>
                        </a:rPr>
                        <a:t>dalla</a:t>
                      </a:r>
                      <a:r>
                        <a:rPr lang="en-GB" sz="1100" dirty="0">
                          <a:effectLst/>
                          <a:latin typeface="+mn-lt"/>
                        </a:rPr>
                        <a:t> normative Spagnola in </a:t>
                      </a:r>
                      <a:r>
                        <a:rPr lang="en-GB" sz="1100" dirty="0" err="1">
                          <a:effectLst/>
                          <a:latin typeface="+mn-lt"/>
                        </a:rPr>
                        <a:t>vigore</a:t>
                      </a:r>
                      <a:r>
                        <a:rPr lang="en-GB" sz="1100" dirty="0">
                          <a:effectLst/>
                          <a:latin typeface="+mn-lt"/>
                        </a:rPr>
                        <a:t> dal 5/10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dirty="0">
                          <a:effectLst/>
                          <a:latin typeface="+mn-lt"/>
                        </a:rPr>
                        <a:t>Pianificazione sviluppi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100" dirty="0">
                          <a:effectLst/>
                          <a:latin typeface="+mn-lt"/>
                        </a:rPr>
                        <a:t>Approval MVP per </a:t>
                      </a:r>
                      <a:r>
                        <a:rPr lang="en-GB" sz="1100" dirty="0" err="1">
                          <a:effectLst/>
                          <a:latin typeface="+mn-lt"/>
                        </a:rPr>
                        <a:t>normativa</a:t>
                      </a:r>
                      <a:endParaRPr lang="en-GB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Chiarimento contrattuale con Gulliver </a:t>
                      </a:r>
                      <a:r>
                        <a:rPr lang="it-IT" sz="1100" b="1" dirty="0">
                          <a:effectLst/>
                          <a:latin typeface="+mn-lt"/>
                        </a:rPr>
                        <a:t>@Ufficio Acquisti</a:t>
                      </a:r>
                    </a:p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Stipula contratto con Accudire</a:t>
                      </a:r>
                      <a:r>
                        <a:rPr lang="it-IT" sz="1100" b="1" dirty="0">
                          <a:effectLst/>
                          <a:latin typeface="+mn-lt"/>
                        </a:rPr>
                        <a:t> @Ufficio Acquisti</a:t>
                      </a:r>
                    </a:p>
                    <a:p>
                      <a:pPr marL="171450" indent="-171450" fontAlgn="base">
                        <a:buFont typeface="Arial" panose="020B0604020202020204" pitchFamily="34" charset="0"/>
                        <a:buChar char="•"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Pianificazione degli sviluppi</a:t>
                      </a:r>
                      <a:r>
                        <a:rPr lang="it-IT" sz="1100" b="1" dirty="0">
                          <a:effectLst/>
                          <a:latin typeface="+mn-lt"/>
                        </a:rPr>
                        <a:t> @Sima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fontAlgn="base">
                        <a:buFont typeface="Arial" panose="020B0604020202020204" pitchFamily="34" charset="0"/>
                        <a:buNone/>
                      </a:pPr>
                      <a:r>
                        <a:rPr lang="it-IT" sz="1100" b="1" dirty="0">
                          <a:effectLst/>
                          <a:latin typeface="+mn-lt"/>
                        </a:rPr>
                        <a:t>25/9</a:t>
                      </a:r>
                      <a:endParaRPr lang="it-IT" sz="1100" dirty="0"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043440"/>
                  </a:ext>
                </a:extLst>
              </a:tr>
            </a:tbl>
          </a:graphicData>
        </a:graphic>
      </p:graphicFrame>
      <p:sp>
        <p:nvSpPr>
          <p:cNvPr id="4" name="Titolo 2">
            <a:extLst>
              <a:ext uri="{FF2B5EF4-FFF2-40B4-BE49-F238E27FC236}">
                <a16:creationId xmlns:a16="http://schemas.microsoft.com/office/drawing/2014/main" id="{C9A0D9B0-E3FB-E150-6278-CE450743A448}"/>
              </a:ext>
            </a:extLst>
          </p:cNvPr>
          <p:cNvSpPr txBox="1">
            <a:spLocks/>
          </p:cNvSpPr>
          <p:nvPr/>
        </p:nvSpPr>
        <p:spPr>
          <a:xfrm>
            <a:off x="122400" y="133200"/>
            <a:ext cx="5309846" cy="567591"/>
          </a:xfrm>
          <a:prstGeom prst="rect">
            <a:avLst/>
          </a:prstGeom>
        </p:spPr>
        <p:txBody>
          <a:bodyPr lIns="0" tIns="0" rIns="0" bIns="0" anchor="t"/>
          <a:lstStyle>
            <a:lvl1pPr eaLnBrk="1" hangingPunct="1">
              <a:defRPr lang="it-IT" sz="3733" b="1" dirty="0">
                <a:solidFill>
                  <a:schemeClr val="accent1"/>
                </a:solidFill>
                <a:latin typeface="Roboto Condensed Black"/>
                <a:ea typeface="+mj-ea"/>
                <a:cs typeface="+mj-cs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400" kern="0" spc="-27" dirty="0">
                <a:solidFill>
                  <a:srgbClr val="C8102E"/>
                </a:solidFill>
                <a:latin typeface="Swis721 Lt BT" panose="020B0403020202020204" pitchFamily="34" charset="0"/>
                <a:ea typeface="Roboto"/>
                <a:cs typeface="Roboto"/>
              </a:rPr>
              <a:t>Focus Tavoli SIMA</a:t>
            </a:r>
            <a:endParaRPr lang="en-GB" sz="2400" kern="0" spc="-27" dirty="0">
              <a:solidFill>
                <a:srgbClr val="C8102E"/>
              </a:solidFill>
              <a:latin typeface="Swis721 Lt BT" panose="020B0403020202020204" pitchFamily="34" charset="0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00544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7C119-E214-7189-0EF8-F5FA87879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2">
            <a:extLst>
              <a:ext uri="{FF2B5EF4-FFF2-40B4-BE49-F238E27FC236}">
                <a16:creationId xmlns:a16="http://schemas.microsoft.com/office/drawing/2014/main" id="{03E5A7CE-16A8-C39D-6C6A-136D4CFB8929}"/>
              </a:ext>
            </a:extLst>
          </p:cNvPr>
          <p:cNvSpPr txBox="1">
            <a:spLocks/>
          </p:cNvSpPr>
          <p:nvPr/>
        </p:nvSpPr>
        <p:spPr>
          <a:xfrm>
            <a:off x="121088" y="133319"/>
            <a:ext cx="5309846" cy="567591"/>
          </a:xfrm>
          <a:prstGeom prst="rect">
            <a:avLst/>
          </a:prstGeom>
        </p:spPr>
        <p:txBody>
          <a:bodyPr lIns="0" tIns="0" rIns="0" bIns="0" anchor="t"/>
          <a:lstStyle>
            <a:lvl1pPr eaLnBrk="1" hangingPunct="1">
              <a:defRPr lang="it-IT" sz="3733" b="1" dirty="0">
                <a:solidFill>
                  <a:schemeClr val="accent1"/>
                </a:solidFill>
                <a:latin typeface="Roboto Condensed Black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it-IT" sz="2400" kern="0" spc="-27" dirty="0">
                <a:solidFill>
                  <a:srgbClr val="C8102E"/>
                </a:solidFill>
                <a:latin typeface="Swis721 Lt BT" panose="020B0403020202020204" pitchFamily="34" charset="0"/>
                <a:ea typeface="Roboto"/>
                <a:cs typeface="Roboto"/>
              </a:rPr>
              <a:t>Focus Tavoli SIMA - Gantt</a:t>
            </a:r>
            <a:endParaRPr lang="en-GB" sz="2400" kern="0" spc="-27" dirty="0">
              <a:solidFill>
                <a:srgbClr val="C8102E"/>
              </a:solidFill>
              <a:latin typeface="Swis721 Lt BT" panose="020B0403020202020204" pitchFamily="34" charset="0"/>
              <a:ea typeface="Roboto"/>
              <a:cs typeface="Roboto"/>
            </a:endParaRP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FC411A82-ABF3-538C-6792-3992E089DB2F}"/>
              </a:ext>
            </a:extLst>
          </p:cNvPr>
          <p:cNvGraphicFramePr>
            <a:graphicFrameLocks noGrp="1"/>
          </p:cNvGraphicFramePr>
          <p:nvPr/>
        </p:nvGraphicFramePr>
        <p:xfrm>
          <a:off x="-5997" y="666008"/>
          <a:ext cx="12192718" cy="5437214"/>
        </p:xfrm>
        <a:graphic>
          <a:graphicData uri="http://schemas.openxmlformats.org/drawingml/2006/table">
            <a:tbl>
              <a:tblPr/>
              <a:tblGrid>
                <a:gridCol w="808249">
                  <a:extLst>
                    <a:ext uri="{9D8B030D-6E8A-4147-A177-3AD203B41FA5}">
                      <a16:colId xmlns:a16="http://schemas.microsoft.com/office/drawing/2014/main" val="2407473875"/>
                    </a:ext>
                  </a:extLst>
                </a:gridCol>
                <a:gridCol w="1697109">
                  <a:extLst>
                    <a:ext uri="{9D8B030D-6E8A-4147-A177-3AD203B41FA5}">
                      <a16:colId xmlns:a16="http://schemas.microsoft.com/office/drawing/2014/main" val="500557569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109649681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71811958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55739586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18177969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55955456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14901415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969109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68442159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99003203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709237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96924987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308730706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70562800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4097842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99108771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49283056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52491018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0882224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12309157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88934429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15871847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00317588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06446245"/>
                    </a:ext>
                  </a:extLst>
                </a:gridCol>
              </a:tblGrid>
              <a:tr h="212037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Iniziativa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it-IT" sz="1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Descrizione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Fase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W2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W3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W4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W5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W6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W7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W8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W9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W10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W11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W12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W13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W14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W15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W16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W17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W18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W19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W20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W21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W22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418533"/>
                  </a:ext>
                </a:extLst>
              </a:tr>
              <a:tr h="185177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11/5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18/5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25/5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1/6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8/6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15/6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22/6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29/6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6/7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13/7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20/7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27/7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3/8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10/8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17/8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24/8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31/8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7/9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14/9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21/9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28/9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5/10</a:t>
                      </a:r>
                    </a:p>
                  </a:txBody>
                  <a:tcPr marL="36000" marR="6466" marT="646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44829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effectLst/>
                          <a:latin typeface="+mn-lt"/>
                        </a:rPr>
                        <a:t>WAV328</a:t>
                      </a:r>
                    </a:p>
                  </a:txBody>
                  <a:tcPr marL="72000" marR="36000" marT="9525" marB="0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Planning</a:t>
                      </a:r>
                      <a:endParaRPr lang="en-GB" sz="1100" b="0" dirty="0">
                        <a:effectLst/>
                        <a:latin typeface="+mn-lt"/>
                      </a:endParaRP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effectLst/>
                          <a:latin typeface="+mn-lt"/>
                        </a:rPr>
                        <a:t>HLD</a:t>
                      </a: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it-IT" sz="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it-IT" sz="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it-IT" sz="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6054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>
                          <a:effectLst/>
                          <a:latin typeface="+mn-lt"/>
                        </a:rPr>
                        <a:t>WAV289</a:t>
                      </a:r>
                    </a:p>
                  </a:txBody>
                  <a:tcPr marL="72000" marR="36000" marT="9525" marB="0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XDOCK</a:t>
                      </a:r>
                      <a:endParaRPr lang="en-GB" sz="1100" b="0" dirty="0">
                        <a:effectLst/>
                        <a:latin typeface="+mn-lt"/>
                      </a:endParaRP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>
                          <a:effectLst/>
                          <a:latin typeface="+mn-lt"/>
                        </a:rPr>
                        <a:t>HLD</a:t>
                      </a: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it-IT" sz="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105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105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2127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WAV327</a:t>
                      </a:r>
                    </a:p>
                  </a:txBody>
                  <a:tcPr marL="72000" marR="36000" marT="9525" marB="0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Network Partner</a:t>
                      </a: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it-IT" sz="1100" b="0" dirty="0" err="1">
                          <a:effectLst/>
                          <a:latin typeface="+mn-lt"/>
                        </a:rPr>
                        <a:t>Plausibility</a:t>
                      </a:r>
                      <a:endParaRPr lang="it-IT" sz="1100" b="0" dirty="0">
                        <a:effectLst/>
                        <a:latin typeface="+mn-lt"/>
                      </a:endParaRP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4291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WAV382</a:t>
                      </a:r>
                    </a:p>
                  </a:txBody>
                  <a:tcPr marL="72000" marR="36000" marT="9525" marB="0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it-IT" sz="11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Associazione Addebiti e </a:t>
                      </a:r>
                      <a:r>
                        <a:rPr lang="it-IT" sz="11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Rifatturazione</a:t>
                      </a:r>
                      <a:r>
                        <a:rPr lang="it-IT" sz="11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attiva</a:t>
                      </a:r>
                      <a:endParaRPr lang="it-IT" sz="1100" b="0" dirty="0">
                        <a:effectLst/>
                        <a:latin typeface="+mn-lt"/>
                      </a:endParaRP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it-IT" sz="1100" b="0" dirty="0">
                          <a:effectLst/>
                          <a:latin typeface="+mn-lt"/>
                        </a:rPr>
                        <a:t>Delivery</a:t>
                      </a: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80429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>
                          <a:effectLst/>
                          <a:latin typeface="+mn-lt"/>
                        </a:rPr>
                        <a:t>WAV323</a:t>
                      </a:r>
                    </a:p>
                  </a:txBody>
                  <a:tcPr marL="72000" marR="36000" marT="9525" marB="0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Ricalcolo</a:t>
                      </a:r>
                      <a:r>
                        <a:rPr lang="en-GB" sz="11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Massivo</a:t>
                      </a:r>
                      <a:r>
                        <a:rPr lang="en-GB" sz="11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Valorizzazioni</a:t>
                      </a:r>
                      <a:endParaRPr lang="en-GB" sz="1100" b="0" dirty="0">
                        <a:effectLst/>
                        <a:latin typeface="+mn-lt"/>
                      </a:endParaRP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>
                          <a:effectLst/>
                          <a:latin typeface="+mn-lt"/>
                        </a:rPr>
                        <a:t>Delivery</a:t>
                      </a:r>
                      <a:r>
                        <a:rPr lang="it-IT" sz="1100" dirty="0">
                          <a:solidFill>
                            <a:schemeClr val="tx1"/>
                          </a:solidFill>
                          <a:latin typeface="Swis721 Lt BT" panose="020B0403020202020204" pitchFamily="34" charset="0"/>
                        </a:rPr>
                        <a:t>¹</a:t>
                      </a:r>
                      <a:endParaRPr lang="en-GB" sz="1100" b="0" dirty="0"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1931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>
                          <a:effectLst/>
                          <a:latin typeface="+mn-lt"/>
                        </a:rPr>
                        <a:t>WAV416</a:t>
                      </a:r>
                    </a:p>
                  </a:txBody>
                  <a:tcPr marL="72000" marR="36000" marT="9525" marB="0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 err="1">
                          <a:effectLst/>
                          <a:latin typeface="+mn-lt"/>
                        </a:rPr>
                        <a:t>Adozione</a:t>
                      </a:r>
                      <a:r>
                        <a:rPr lang="en-GB" sz="1100" b="0" dirty="0">
                          <a:effectLst/>
                          <a:latin typeface="+mn-lt"/>
                        </a:rPr>
                        <a:t> DeCA – Arcese Spagna</a:t>
                      </a: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>
                          <a:effectLst/>
                          <a:latin typeface="+mn-lt"/>
                        </a:rPr>
                        <a:t>HLD</a:t>
                      </a: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36633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>
                          <a:effectLst/>
                          <a:latin typeface="+mn-lt"/>
                        </a:rPr>
                        <a:t>WAV200</a:t>
                      </a:r>
                    </a:p>
                  </a:txBody>
                  <a:tcPr marL="72000" marR="36000" marT="9525" marB="0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Costi Handling</a:t>
                      </a:r>
                      <a:endParaRPr lang="en-GB" sz="1100" b="0" dirty="0">
                        <a:effectLst/>
                        <a:latin typeface="+mn-lt"/>
                      </a:endParaRP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1100" b="0" dirty="0">
                          <a:effectLst/>
                          <a:latin typeface="+mn-lt"/>
                        </a:rPr>
                        <a:t>Delivery</a:t>
                      </a: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466" marR="6466" marT="6466" marB="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840838"/>
                  </a:ext>
                </a:extLst>
              </a:tr>
            </a:tbl>
          </a:graphicData>
        </a:graphic>
      </p:graphicFrame>
      <p:sp>
        <p:nvSpPr>
          <p:cNvPr id="5" name="Rettangolo 4">
            <a:extLst>
              <a:ext uri="{FF2B5EF4-FFF2-40B4-BE49-F238E27FC236}">
                <a16:creationId xmlns:a16="http://schemas.microsoft.com/office/drawing/2014/main" id="{073B5514-ECA6-98CF-C1DE-5B4A810A4616}"/>
              </a:ext>
            </a:extLst>
          </p:cNvPr>
          <p:cNvSpPr/>
          <p:nvPr/>
        </p:nvSpPr>
        <p:spPr>
          <a:xfrm>
            <a:off x="6243490" y="4092313"/>
            <a:ext cx="1985560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 err="1">
                <a:solidFill>
                  <a:schemeClr val="tx1"/>
                </a:solidFill>
              </a:rPr>
              <a:t>Approval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B030FAB-0872-A747-7DD8-2BBAEA65903B}"/>
              </a:ext>
            </a:extLst>
          </p:cNvPr>
          <p:cNvSpPr/>
          <p:nvPr/>
        </p:nvSpPr>
        <p:spPr>
          <a:xfrm>
            <a:off x="8248287" y="4165319"/>
            <a:ext cx="2340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Dev SGA</a:t>
            </a:r>
            <a:r>
              <a:rPr lang="it-IT" sz="800" dirty="0">
                <a:solidFill>
                  <a:schemeClr val="tx1"/>
                </a:solidFill>
                <a:latin typeface="Swis721 Lt BT" panose="020B0403020202020204" pitchFamily="34" charset="0"/>
              </a:rPr>
              <a:t>²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98C7D2F-8AC3-E86C-666B-14416D22BCA9}"/>
              </a:ext>
            </a:extLst>
          </p:cNvPr>
          <p:cNvSpPr/>
          <p:nvPr/>
        </p:nvSpPr>
        <p:spPr>
          <a:xfrm>
            <a:off x="10604496" y="4219319"/>
            <a:ext cx="38608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SIT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71767BF-070D-0C20-2A34-5FF8A045757A}"/>
              </a:ext>
            </a:extLst>
          </p:cNvPr>
          <p:cNvSpPr/>
          <p:nvPr/>
        </p:nvSpPr>
        <p:spPr>
          <a:xfrm>
            <a:off x="10992829" y="4276701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UAT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317E356-2935-4C9D-751D-59C15455C35D}"/>
              </a:ext>
            </a:extLst>
          </p:cNvPr>
          <p:cNvSpPr/>
          <p:nvPr/>
        </p:nvSpPr>
        <p:spPr>
          <a:xfrm>
            <a:off x="5457525" y="3465150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1D61179-A7FC-88C2-80F8-64FDA4921BDB}"/>
              </a:ext>
            </a:extLst>
          </p:cNvPr>
          <p:cNvSpPr/>
          <p:nvPr/>
        </p:nvSpPr>
        <p:spPr>
          <a:xfrm>
            <a:off x="5847491" y="3543858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SIT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5C86F28-7B9D-374C-F973-7DC0BECC0521}"/>
              </a:ext>
            </a:extLst>
          </p:cNvPr>
          <p:cNvSpPr/>
          <p:nvPr/>
        </p:nvSpPr>
        <p:spPr>
          <a:xfrm>
            <a:off x="6246093" y="3620986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UAT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6CE5FD9B-3CF7-ABA9-C1AE-760805AA0014}"/>
              </a:ext>
            </a:extLst>
          </p:cNvPr>
          <p:cNvSpPr/>
          <p:nvPr/>
        </p:nvSpPr>
        <p:spPr>
          <a:xfrm>
            <a:off x="6650770" y="3711736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it-IT" sz="800" dirty="0" err="1">
                <a:solidFill>
                  <a:schemeClr val="tx1"/>
                </a:solidFill>
              </a:rPr>
              <a:t>Deploy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8E062204-2D43-DF3B-F46F-9BDE2ED34354}"/>
              </a:ext>
            </a:extLst>
          </p:cNvPr>
          <p:cNvSpPr/>
          <p:nvPr/>
        </p:nvSpPr>
        <p:spPr>
          <a:xfrm>
            <a:off x="7046286" y="3781653"/>
            <a:ext cx="3168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HC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9B720F82-3202-684C-12BF-CB4229F19B82}"/>
              </a:ext>
            </a:extLst>
          </p:cNvPr>
          <p:cNvSpPr/>
          <p:nvPr/>
        </p:nvSpPr>
        <p:spPr>
          <a:xfrm>
            <a:off x="5849330" y="4793117"/>
            <a:ext cx="1188000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Chiusura requisiti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1171F150-FF45-EB42-FB63-699CE8652733}"/>
              </a:ext>
            </a:extLst>
          </p:cNvPr>
          <p:cNvSpPr/>
          <p:nvPr/>
        </p:nvSpPr>
        <p:spPr>
          <a:xfrm>
            <a:off x="7046286" y="4856148"/>
            <a:ext cx="1560387" cy="963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Costi e tempi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B94C12B3-9537-ED61-9249-D4CFE6B83C9E}"/>
              </a:ext>
            </a:extLst>
          </p:cNvPr>
          <p:cNvSpPr/>
          <p:nvPr/>
        </p:nvSpPr>
        <p:spPr>
          <a:xfrm>
            <a:off x="8626776" y="4899809"/>
            <a:ext cx="790658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 dirty="0" err="1">
                <a:solidFill>
                  <a:schemeClr val="tx1"/>
                </a:solidFill>
              </a:rPr>
              <a:t>Approval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CCA8132E-ABFF-AFB4-1B93-BC1C6F5B29CF}"/>
              </a:ext>
            </a:extLst>
          </p:cNvPr>
          <p:cNvSpPr/>
          <p:nvPr/>
        </p:nvSpPr>
        <p:spPr>
          <a:xfrm>
            <a:off x="3473693" y="3296495"/>
            <a:ext cx="1188000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 err="1">
                <a:solidFill>
                  <a:schemeClr val="tx1"/>
                </a:solidFill>
              </a:rPr>
              <a:t>Approval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F974FD0-4F3F-95C5-CEEB-F5AFADE1316F}"/>
              </a:ext>
            </a:extLst>
          </p:cNvPr>
          <p:cNvSpPr txBox="1"/>
          <p:nvPr/>
        </p:nvSpPr>
        <p:spPr>
          <a:xfrm>
            <a:off x="9140914" y="78023"/>
            <a:ext cx="6773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b="1" dirty="0">
                <a:solidFill>
                  <a:srgbClr val="00B050"/>
                </a:solidFill>
              </a:rPr>
              <a:t>Oggi 24/8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6699307F-BC9B-29A0-7E43-2D0EBF61F785}"/>
              </a:ext>
            </a:extLst>
          </p:cNvPr>
          <p:cNvSpPr/>
          <p:nvPr/>
        </p:nvSpPr>
        <p:spPr>
          <a:xfrm>
            <a:off x="3475342" y="3994865"/>
            <a:ext cx="2772000" cy="107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Incontri con Sima, analisi e HLD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3FBC9E86-85DD-A738-D6B4-1AC8C3746BAA}"/>
              </a:ext>
            </a:extLst>
          </p:cNvPr>
          <p:cNvSpPr/>
          <p:nvPr/>
        </p:nvSpPr>
        <p:spPr>
          <a:xfrm>
            <a:off x="3474927" y="4737030"/>
            <a:ext cx="2376000" cy="107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Incontri con Sima, analisi e HLD</a:t>
            </a:r>
          </a:p>
        </p:txBody>
      </p:sp>
      <p:cxnSp>
        <p:nvCxnSpPr>
          <p:cNvPr id="45" name="Connettore a gomito 44">
            <a:extLst>
              <a:ext uri="{FF2B5EF4-FFF2-40B4-BE49-F238E27FC236}">
                <a16:creationId xmlns:a16="http://schemas.microsoft.com/office/drawing/2014/main" id="{00F29673-74C1-3619-38A0-00BB9587311C}"/>
              </a:ext>
            </a:extLst>
          </p:cNvPr>
          <p:cNvCxnSpPr>
            <a:cxnSpLocks/>
            <a:stCxn id="16" idx="3"/>
            <a:endCxn id="46" idx="1"/>
          </p:cNvCxnSpPr>
          <p:nvPr/>
        </p:nvCxnSpPr>
        <p:spPr>
          <a:xfrm flipV="1">
            <a:off x="7046770" y="3397987"/>
            <a:ext cx="175623" cy="3677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5EC3B77E-41D2-DDFA-F287-08E1CCD1E4C4}"/>
              </a:ext>
            </a:extLst>
          </p:cNvPr>
          <p:cNvSpPr txBox="1"/>
          <p:nvPr/>
        </p:nvSpPr>
        <p:spPr>
          <a:xfrm>
            <a:off x="7222393" y="3120988"/>
            <a:ext cx="1006657" cy="5539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it-IT" sz="1000" b="1" dirty="0"/>
              <a:t>Go-Live (passivo CTL)</a:t>
            </a:r>
          </a:p>
          <a:p>
            <a:r>
              <a:rPr lang="it-IT" sz="1000" b="1" dirty="0"/>
              <a:t>10/7 </a:t>
            </a:r>
          </a:p>
        </p:txBody>
      </p:sp>
      <p:cxnSp>
        <p:nvCxnSpPr>
          <p:cNvPr id="52" name="Connettore a gomito 51">
            <a:extLst>
              <a:ext uri="{FF2B5EF4-FFF2-40B4-BE49-F238E27FC236}">
                <a16:creationId xmlns:a16="http://schemas.microsoft.com/office/drawing/2014/main" id="{8C4812D0-4F38-723D-D2D5-A63AB37A4D99}"/>
              </a:ext>
            </a:extLst>
          </p:cNvPr>
          <p:cNvCxnSpPr>
            <a:cxnSpLocks/>
            <a:stCxn id="8" idx="3"/>
            <a:endCxn id="53" idx="2"/>
          </p:cNvCxnSpPr>
          <p:nvPr/>
        </p:nvCxnSpPr>
        <p:spPr>
          <a:xfrm flipV="1">
            <a:off x="11388829" y="4170046"/>
            <a:ext cx="214898" cy="16065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16DAD618-0B24-2864-AB4E-B7D90EFAF884}"/>
              </a:ext>
            </a:extLst>
          </p:cNvPr>
          <p:cNvSpPr txBox="1"/>
          <p:nvPr/>
        </p:nvSpPr>
        <p:spPr>
          <a:xfrm>
            <a:off x="11285777" y="3816103"/>
            <a:ext cx="635899" cy="353943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r>
              <a:rPr lang="it-IT" sz="1000" b="1" dirty="0"/>
              <a:t>Go-Live</a:t>
            </a:r>
          </a:p>
          <a:p>
            <a:r>
              <a:rPr lang="it-IT" sz="1000" b="1" dirty="0"/>
              <a:t>25/9</a:t>
            </a:r>
            <a:r>
              <a:rPr lang="it-IT" sz="1000" dirty="0">
                <a:latin typeface="Swis721 Lt BT" panose="020B0403020202020204" pitchFamily="34" charset="0"/>
              </a:rPr>
              <a:t>³</a:t>
            </a:r>
            <a:endParaRPr lang="it-IT" sz="1000" b="1" dirty="0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A34E3D13-B06E-C25D-ABB2-9117946004C5}"/>
              </a:ext>
            </a:extLst>
          </p:cNvPr>
          <p:cNvSpPr txBox="1"/>
          <p:nvPr/>
        </p:nvSpPr>
        <p:spPr>
          <a:xfrm>
            <a:off x="-9093" y="6208541"/>
            <a:ext cx="854428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latin typeface="Swis721 Lt BT" panose="020B0403020202020204" pitchFamily="34" charset="0"/>
              </a:rPr>
              <a:t>¹ Il piano di delivery è provvisorio perché ancora da approvare.</a:t>
            </a:r>
          </a:p>
          <a:p>
            <a:r>
              <a:rPr lang="it-IT" sz="900" dirty="0">
                <a:latin typeface="Swis721 Lt BT" panose="020B0403020202020204" pitchFamily="34" charset="0"/>
              </a:rPr>
              <a:t>² Gli sviluppi di Sima avranno un </a:t>
            </a:r>
            <a:r>
              <a:rPr lang="it-IT" sz="900" dirty="0" err="1">
                <a:latin typeface="Swis721 Lt BT" panose="020B0403020202020204" pitchFamily="34" charset="0"/>
              </a:rPr>
              <a:t>elapsed</a:t>
            </a:r>
            <a:r>
              <a:rPr lang="it-IT" sz="900" dirty="0">
                <a:latin typeface="Swis721 Lt BT" panose="020B0403020202020204" pitchFamily="34" charset="0"/>
              </a:rPr>
              <a:t> stimato di due settimane ancora da pianificare nel range di settimane indicato.</a:t>
            </a:r>
          </a:p>
          <a:p>
            <a:r>
              <a:rPr lang="it-IT" sz="900" dirty="0">
                <a:latin typeface="Swis721 Lt BT" panose="020B0403020202020204" pitchFamily="34" charset="0"/>
              </a:rPr>
              <a:t>³ Il Go-live dovrà essere confermato in base alla pianificazione del rilascio di SIMA, che darà priorità agli sviluppi sul </a:t>
            </a:r>
            <a:r>
              <a:rPr lang="it-IT" sz="900" dirty="0" err="1">
                <a:latin typeface="Swis721 Lt BT" panose="020B0403020202020204" pitchFamily="34" charset="0"/>
              </a:rPr>
              <a:t>DeCA</a:t>
            </a:r>
            <a:r>
              <a:rPr lang="it-IT" sz="900" dirty="0">
                <a:latin typeface="Swis721 Lt BT" panose="020B0403020202020204" pitchFamily="34" charset="0"/>
              </a:rPr>
              <a:t>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6D051F9-C226-1A2B-DACC-624BC25BB69C}"/>
              </a:ext>
            </a:extLst>
          </p:cNvPr>
          <p:cNvSpPr/>
          <p:nvPr/>
        </p:nvSpPr>
        <p:spPr>
          <a:xfrm>
            <a:off x="3474927" y="2722986"/>
            <a:ext cx="2376000" cy="107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Analisi stima di </a:t>
            </a:r>
            <a:r>
              <a:rPr lang="it-IT" sz="800" dirty="0" err="1">
                <a:solidFill>
                  <a:schemeClr val="tx1"/>
                </a:solidFill>
              </a:rPr>
              <a:t>plausibility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971F28E5-0F53-4B9F-876E-A9F68DE64335}"/>
              </a:ext>
            </a:extLst>
          </p:cNvPr>
          <p:cNvSpPr/>
          <p:nvPr/>
        </p:nvSpPr>
        <p:spPr>
          <a:xfrm>
            <a:off x="5850858" y="2847650"/>
            <a:ext cx="3953541" cy="1304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 err="1">
                <a:solidFill>
                  <a:schemeClr val="tx1"/>
                </a:solidFill>
              </a:rPr>
              <a:t>Approval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4204F3A1-1B63-7054-53F9-E18A91CDF94A}"/>
              </a:ext>
            </a:extLst>
          </p:cNvPr>
          <p:cNvSpPr/>
          <p:nvPr/>
        </p:nvSpPr>
        <p:spPr>
          <a:xfrm>
            <a:off x="11407285" y="4371131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HC</a:t>
            </a:r>
          </a:p>
        </p:txBody>
      </p: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D070A773-8347-58F4-8CB8-21EC7F9D5250}"/>
              </a:ext>
            </a:extLst>
          </p:cNvPr>
          <p:cNvGrpSpPr/>
          <p:nvPr/>
        </p:nvGrpSpPr>
        <p:grpSpPr>
          <a:xfrm>
            <a:off x="10764609" y="6150437"/>
            <a:ext cx="1388979" cy="655766"/>
            <a:chOff x="9394823" y="21139"/>
            <a:chExt cx="1388979" cy="655766"/>
          </a:xfrm>
        </p:grpSpPr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5702284D-9916-2EB0-6043-AE7891BE2615}"/>
                </a:ext>
              </a:extLst>
            </p:cNvPr>
            <p:cNvSpPr/>
            <p:nvPr/>
          </p:nvSpPr>
          <p:spPr>
            <a:xfrm>
              <a:off x="9394823" y="508543"/>
              <a:ext cx="396000" cy="10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tx1"/>
                </a:solidFill>
              </a:endParaRPr>
            </a:p>
          </p:txBody>
        </p:sp>
        <p:sp>
          <p:nvSpPr>
            <p:cNvPr id="34" name="Rettangolo 33">
              <a:extLst>
                <a:ext uri="{FF2B5EF4-FFF2-40B4-BE49-F238E27FC236}">
                  <a16:creationId xmlns:a16="http://schemas.microsoft.com/office/drawing/2014/main" id="{8B35E1F7-CE7C-E01E-8C39-DA4A4EAABEC8}"/>
                </a:ext>
              </a:extLst>
            </p:cNvPr>
            <p:cNvSpPr/>
            <p:nvPr/>
          </p:nvSpPr>
          <p:spPr>
            <a:xfrm>
              <a:off x="9394823" y="368338"/>
              <a:ext cx="396000" cy="10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tx1"/>
                </a:solidFill>
              </a:endParaRPr>
            </a:p>
          </p:txBody>
        </p:sp>
        <p:sp>
          <p:nvSpPr>
            <p:cNvPr id="43" name="Rettangolo 42">
              <a:extLst>
                <a:ext uri="{FF2B5EF4-FFF2-40B4-BE49-F238E27FC236}">
                  <a16:creationId xmlns:a16="http://schemas.microsoft.com/office/drawing/2014/main" id="{F63E7FF4-6F85-6626-D966-68196672B1BF}"/>
                </a:ext>
              </a:extLst>
            </p:cNvPr>
            <p:cNvSpPr/>
            <p:nvPr/>
          </p:nvSpPr>
          <p:spPr>
            <a:xfrm>
              <a:off x="9394823" y="228134"/>
              <a:ext cx="396000" cy="10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tx1"/>
                </a:solidFill>
              </a:endParaRPr>
            </a:p>
          </p:txBody>
        </p:sp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A44BD260-966D-0CAB-154E-E0ACACFBA910}"/>
                </a:ext>
              </a:extLst>
            </p:cNvPr>
            <p:cNvSpPr/>
            <p:nvPr/>
          </p:nvSpPr>
          <p:spPr>
            <a:xfrm>
              <a:off x="9394823" y="87931"/>
              <a:ext cx="396000" cy="107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tx1"/>
                </a:solidFill>
              </a:endParaRPr>
            </a:p>
          </p:txBody>
        </p:sp>
        <p:sp>
          <p:nvSpPr>
            <p:cNvPr id="48" name="CasellaDiTesto 47">
              <a:extLst>
                <a:ext uri="{FF2B5EF4-FFF2-40B4-BE49-F238E27FC236}">
                  <a16:creationId xmlns:a16="http://schemas.microsoft.com/office/drawing/2014/main" id="{BA690BDC-E0FE-CBDA-CFC9-B9B37C72CF22}"/>
                </a:ext>
              </a:extLst>
            </p:cNvPr>
            <p:cNvSpPr txBox="1"/>
            <p:nvPr/>
          </p:nvSpPr>
          <p:spPr>
            <a:xfrm>
              <a:off x="9758558" y="21139"/>
              <a:ext cx="10252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900" dirty="0" err="1"/>
                <a:t>Plausibility</a:t>
              </a:r>
              <a:endParaRPr lang="it-IT" sz="900" dirty="0"/>
            </a:p>
          </p:txBody>
        </p:sp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46B68B20-86EA-9555-0689-79E7EA6DE000}"/>
                </a:ext>
              </a:extLst>
            </p:cNvPr>
            <p:cNvSpPr txBox="1"/>
            <p:nvPr/>
          </p:nvSpPr>
          <p:spPr>
            <a:xfrm>
              <a:off x="9758558" y="162784"/>
              <a:ext cx="10252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900" dirty="0"/>
                <a:t>HLD</a:t>
              </a:r>
            </a:p>
          </p:txBody>
        </p:sp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A6FD2A0D-F33A-AA96-4AEE-46275143908D}"/>
                </a:ext>
              </a:extLst>
            </p:cNvPr>
            <p:cNvSpPr txBox="1"/>
            <p:nvPr/>
          </p:nvSpPr>
          <p:spPr>
            <a:xfrm>
              <a:off x="9758558" y="304429"/>
              <a:ext cx="10252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900" dirty="0"/>
                <a:t>Delivery</a:t>
              </a: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E503441E-84BC-4E1D-9722-8F7342C24162}"/>
                </a:ext>
              </a:extLst>
            </p:cNvPr>
            <p:cNvSpPr txBox="1"/>
            <p:nvPr/>
          </p:nvSpPr>
          <p:spPr>
            <a:xfrm>
              <a:off x="9758558" y="446073"/>
              <a:ext cx="10252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900" dirty="0"/>
                <a:t>Delivery tbc</a:t>
              </a:r>
            </a:p>
          </p:txBody>
        </p:sp>
      </p:grp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101BCA80-4AB1-C111-047F-1D2858376BE0}"/>
              </a:ext>
            </a:extLst>
          </p:cNvPr>
          <p:cNvSpPr txBox="1"/>
          <p:nvPr/>
        </p:nvSpPr>
        <p:spPr>
          <a:xfrm>
            <a:off x="11457480" y="4860630"/>
            <a:ext cx="838707" cy="353943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pPr algn="ctr"/>
            <a:r>
              <a:rPr lang="it-IT" sz="1000" b="1" dirty="0"/>
              <a:t>Normativa</a:t>
            </a:r>
          </a:p>
          <a:p>
            <a:pPr algn="ctr"/>
            <a:r>
              <a:rPr lang="it-IT" sz="1000" b="1" dirty="0"/>
              <a:t>5/10</a:t>
            </a: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05800DB2-A94C-344F-500B-D632EF2272C0}"/>
              </a:ext>
            </a:extLst>
          </p:cNvPr>
          <p:cNvSpPr/>
          <p:nvPr/>
        </p:nvSpPr>
        <p:spPr>
          <a:xfrm>
            <a:off x="6247342" y="5674605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Conf.</a:t>
            </a: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F48220C8-B654-D036-7074-056FFDF98696}"/>
              </a:ext>
            </a:extLst>
          </p:cNvPr>
          <p:cNvSpPr/>
          <p:nvPr/>
        </p:nvSpPr>
        <p:spPr>
          <a:xfrm>
            <a:off x="6511709" y="5781708"/>
            <a:ext cx="5680291" cy="1224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Simulazioni</a:t>
            </a:r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521D487C-8FE1-8E12-B1F6-168862B778CA}"/>
              </a:ext>
            </a:extLst>
          </p:cNvPr>
          <p:cNvSpPr/>
          <p:nvPr/>
        </p:nvSpPr>
        <p:spPr>
          <a:xfrm>
            <a:off x="10201928" y="5956592"/>
            <a:ext cx="38608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Esiti</a:t>
            </a:r>
          </a:p>
        </p:txBody>
      </p:sp>
      <p:sp>
        <p:nvSpPr>
          <p:cNvPr id="70" name="Rettangolo 69">
            <a:extLst>
              <a:ext uri="{FF2B5EF4-FFF2-40B4-BE49-F238E27FC236}">
                <a16:creationId xmlns:a16="http://schemas.microsoft.com/office/drawing/2014/main" id="{F64273D0-6BE7-CB8E-D9DA-96D49DE0243C}"/>
              </a:ext>
            </a:extLst>
          </p:cNvPr>
          <p:cNvSpPr/>
          <p:nvPr/>
        </p:nvSpPr>
        <p:spPr>
          <a:xfrm>
            <a:off x="3474222" y="5460564"/>
            <a:ext cx="792000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 err="1">
                <a:solidFill>
                  <a:schemeClr val="tx1"/>
                </a:solidFill>
              </a:rPr>
              <a:t>Approval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72" name="Rettangolo 71">
            <a:extLst>
              <a:ext uri="{FF2B5EF4-FFF2-40B4-BE49-F238E27FC236}">
                <a16:creationId xmlns:a16="http://schemas.microsoft.com/office/drawing/2014/main" id="{310D42D5-AAAC-E2C3-5FCF-C491A118E8E4}"/>
              </a:ext>
            </a:extLst>
          </p:cNvPr>
          <p:cNvSpPr/>
          <p:nvPr/>
        </p:nvSpPr>
        <p:spPr>
          <a:xfrm>
            <a:off x="4263051" y="5522334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949EC076-1E47-7DD4-A4FA-AC0CF4335AF6}"/>
              </a:ext>
            </a:extLst>
          </p:cNvPr>
          <p:cNvSpPr/>
          <p:nvPr/>
        </p:nvSpPr>
        <p:spPr>
          <a:xfrm>
            <a:off x="4661692" y="5602929"/>
            <a:ext cx="1584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 err="1">
                <a:solidFill>
                  <a:schemeClr val="tx1"/>
                </a:solidFill>
              </a:rPr>
              <a:t>Deploy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BEA4F1D1-AEBE-22D5-D763-6D51A240E8AD}"/>
              </a:ext>
            </a:extLst>
          </p:cNvPr>
          <p:cNvSpPr txBox="1"/>
          <p:nvPr/>
        </p:nvSpPr>
        <p:spPr>
          <a:xfrm>
            <a:off x="11659324" y="5424551"/>
            <a:ext cx="988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it-IT" sz="1000" b="1" dirty="0"/>
              <a:t>Go-Live</a:t>
            </a:r>
          </a:p>
          <a:p>
            <a:r>
              <a:rPr lang="it-IT" sz="1000" b="1" dirty="0"/>
              <a:t>11/1 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F8311AC-7C43-84CA-F888-6A841E7A76D6}"/>
              </a:ext>
            </a:extLst>
          </p:cNvPr>
          <p:cNvSpPr/>
          <p:nvPr/>
        </p:nvSpPr>
        <p:spPr>
          <a:xfrm>
            <a:off x="6244032" y="1977837"/>
            <a:ext cx="792000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Chiusura requisiti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68A72489-0488-2CB3-6EE8-8EAEF6FBAB7B}"/>
              </a:ext>
            </a:extLst>
          </p:cNvPr>
          <p:cNvSpPr/>
          <p:nvPr/>
        </p:nvSpPr>
        <p:spPr>
          <a:xfrm>
            <a:off x="10604496" y="2185997"/>
            <a:ext cx="792000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Costi e tempi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0A0BDBA5-6658-5536-8186-FA91ED38EEE5}"/>
              </a:ext>
            </a:extLst>
          </p:cNvPr>
          <p:cNvSpPr/>
          <p:nvPr/>
        </p:nvSpPr>
        <p:spPr>
          <a:xfrm>
            <a:off x="5850860" y="1280751"/>
            <a:ext cx="1184940" cy="107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Chiusura requisiti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15898B67-9391-AD5D-6207-4ACCA7B8427B}"/>
              </a:ext>
            </a:extLst>
          </p:cNvPr>
          <p:cNvSpPr/>
          <p:nvPr/>
        </p:nvSpPr>
        <p:spPr>
          <a:xfrm>
            <a:off x="7040093" y="1400670"/>
            <a:ext cx="1586683" cy="1243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Costi e tempi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232451CA-A8A4-9857-9614-12561F77B55B}"/>
              </a:ext>
            </a:extLst>
          </p:cNvPr>
          <p:cNvSpPr/>
          <p:nvPr/>
        </p:nvSpPr>
        <p:spPr>
          <a:xfrm>
            <a:off x="10611215" y="1525003"/>
            <a:ext cx="791994" cy="1243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 err="1">
                <a:solidFill>
                  <a:schemeClr val="tx1"/>
                </a:solidFill>
              </a:rPr>
              <a:t>Approval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09037EA2-6132-5DEF-8BEF-56ED7740AD6F}"/>
              </a:ext>
            </a:extLst>
          </p:cNvPr>
          <p:cNvSpPr/>
          <p:nvPr/>
        </p:nvSpPr>
        <p:spPr>
          <a:xfrm>
            <a:off x="7035800" y="2101049"/>
            <a:ext cx="1584000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it-IT" sz="800" dirty="0" err="1">
                <a:solidFill>
                  <a:schemeClr val="tx1"/>
                </a:solidFill>
              </a:rPr>
              <a:t>Solutioning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5D883D04-1E27-CFB3-D0C7-499A7DAAC217}"/>
              </a:ext>
            </a:extLst>
          </p:cNvPr>
          <p:cNvSpPr/>
          <p:nvPr/>
        </p:nvSpPr>
        <p:spPr>
          <a:xfrm>
            <a:off x="3478845" y="1172444"/>
            <a:ext cx="2372015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Incontri con Sima e analisi</a:t>
            </a:r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2C4CC500-0BD9-2E88-2F77-ED56B543E375}"/>
              </a:ext>
            </a:extLst>
          </p:cNvPr>
          <p:cNvSpPr/>
          <p:nvPr/>
        </p:nvSpPr>
        <p:spPr>
          <a:xfrm>
            <a:off x="3482183" y="1853416"/>
            <a:ext cx="2771145" cy="106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Incontri con Sima e analisi</a:t>
            </a:r>
          </a:p>
        </p:txBody>
      </p:sp>
      <p:sp>
        <p:nvSpPr>
          <p:cNvPr id="73" name="Rettangolo 72">
            <a:extLst>
              <a:ext uri="{FF2B5EF4-FFF2-40B4-BE49-F238E27FC236}">
                <a16:creationId xmlns:a16="http://schemas.microsoft.com/office/drawing/2014/main" id="{C89B1386-BC98-AD3E-3306-4A84B5B1B2A0}"/>
              </a:ext>
            </a:extLst>
          </p:cNvPr>
          <p:cNvSpPr/>
          <p:nvPr/>
        </p:nvSpPr>
        <p:spPr>
          <a:xfrm>
            <a:off x="11400563" y="2293997"/>
            <a:ext cx="791994" cy="1243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Approval</a:t>
            </a:r>
            <a:r>
              <a:rPr lang="it-IT" sz="800" dirty="0">
                <a:solidFill>
                  <a:schemeClr val="tx1"/>
                </a:solidFill>
                <a:latin typeface="Swis721 Lt BT" panose="020B0403020202020204" pitchFamily="34" charset="0"/>
              </a:rPr>
              <a:t>¹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2D857FBF-91F7-1733-32C7-B9CACDC270C3}"/>
              </a:ext>
            </a:extLst>
          </p:cNvPr>
          <p:cNvSpPr/>
          <p:nvPr/>
        </p:nvSpPr>
        <p:spPr>
          <a:xfrm>
            <a:off x="9405517" y="1400670"/>
            <a:ext cx="1188000" cy="1243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Costi e tempi</a:t>
            </a:r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486A15AF-14F4-51BD-DB9A-B3F445F3A73A}"/>
              </a:ext>
            </a:extLst>
          </p:cNvPr>
          <p:cNvSpPr/>
          <p:nvPr/>
        </p:nvSpPr>
        <p:spPr>
          <a:xfrm>
            <a:off x="9423212" y="2090560"/>
            <a:ext cx="1188000" cy="1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it-IT" sz="800" dirty="0" err="1">
                <a:solidFill>
                  <a:schemeClr val="tx1"/>
                </a:solidFill>
              </a:rPr>
              <a:t>Solutioning</a:t>
            </a:r>
            <a:endParaRPr lang="it-IT" sz="800" dirty="0">
              <a:solidFill>
                <a:schemeClr val="tx1"/>
              </a:solidFill>
            </a:endParaRP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D567E170-647C-1C88-78B5-2F1A71041462}"/>
              </a:ext>
            </a:extLst>
          </p:cNvPr>
          <p:cNvSpPr/>
          <p:nvPr/>
        </p:nvSpPr>
        <p:spPr>
          <a:xfrm>
            <a:off x="9422286" y="4971279"/>
            <a:ext cx="1188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CD164E19-E36D-1FC2-6A0A-E454FA58D807}"/>
              </a:ext>
            </a:extLst>
          </p:cNvPr>
          <p:cNvSpPr/>
          <p:nvPr/>
        </p:nvSpPr>
        <p:spPr>
          <a:xfrm>
            <a:off x="10611574" y="5079279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SIT</a:t>
            </a:r>
          </a:p>
        </p:txBody>
      </p:sp>
      <p:sp>
        <p:nvSpPr>
          <p:cNvPr id="82" name="Rettangolo 81">
            <a:extLst>
              <a:ext uri="{FF2B5EF4-FFF2-40B4-BE49-F238E27FC236}">
                <a16:creationId xmlns:a16="http://schemas.microsoft.com/office/drawing/2014/main" id="{D3729978-93AD-C3ED-FE18-EF185244D4D0}"/>
              </a:ext>
            </a:extLst>
          </p:cNvPr>
          <p:cNvSpPr/>
          <p:nvPr/>
        </p:nvSpPr>
        <p:spPr>
          <a:xfrm>
            <a:off x="11000496" y="5209934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UAT</a:t>
            </a:r>
          </a:p>
        </p:txBody>
      </p:sp>
      <p:sp>
        <p:nvSpPr>
          <p:cNvPr id="85" name="Rettangolo 84">
            <a:extLst>
              <a:ext uri="{FF2B5EF4-FFF2-40B4-BE49-F238E27FC236}">
                <a16:creationId xmlns:a16="http://schemas.microsoft.com/office/drawing/2014/main" id="{8AE3AAAF-1206-B1CB-A40A-83A469D1E112}"/>
              </a:ext>
            </a:extLst>
          </p:cNvPr>
          <p:cNvSpPr/>
          <p:nvPr/>
        </p:nvSpPr>
        <p:spPr>
          <a:xfrm>
            <a:off x="11397125" y="5273804"/>
            <a:ext cx="396000" cy="1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dirty="0">
                <a:solidFill>
                  <a:schemeClr val="tx1"/>
                </a:solidFill>
              </a:rPr>
              <a:t>HC</a:t>
            </a:r>
          </a:p>
        </p:txBody>
      </p:sp>
      <p:cxnSp>
        <p:nvCxnSpPr>
          <p:cNvPr id="88" name="Connettore a gomito 87">
            <a:extLst>
              <a:ext uri="{FF2B5EF4-FFF2-40B4-BE49-F238E27FC236}">
                <a16:creationId xmlns:a16="http://schemas.microsoft.com/office/drawing/2014/main" id="{34A3A2E7-A25A-3EEE-03D8-5B19D87A616B}"/>
              </a:ext>
            </a:extLst>
          </p:cNvPr>
          <p:cNvCxnSpPr>
            <a:cxnSpLocks/>
            <a:stCxn id="82" idx="3"/>
            <a:endCxn id="89" idx="2"/>
          </p:cNvCxnSpPr>
          <p:nvPr/>
        </p:nvCxnSpPr>
        <p:spPr>
          <a:xfrm flipV="1">
            <a:off x="11396496" y="5002802"/>
            <a:ext cx="72506" cy="26113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A43F4360-26BA-8C8A-8F1F-952CC0501B4C}"/>
              </a:ext>
            </a:extLst>
          </p:cNvPr>
          <p:cNvSpPr txBox="1"/>
          <p:nvPr/>
        </p:nvSpPr>
        <p:spPr>
          <a:xfrm>
            <a:off x="11151052" y="4648859"/>
            <a:ext cx="635899" cy="353943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r>
              <a:rPr lang="it-IT" sz="1000" b="1" dirty="0"/>
              <a:t>Go-Live</a:t>
            </a:r>
          </a:p>
          <a:p>
            <a:r>
              <a:rPr lang="it-IT" sz="1000" b="1" dirty="0"/>
              <a:t>25/9</a:t>
            </a:r>
          </a:p>
        </p:txBody>
      </p:sp>
      <p:cxnSp>
        <p:nvCxnSpPr>
          <p:cNvPr id="90" name="Connettore a gomito 89">
            <a:extLst>
              <a:ext uri="{FF2B5EF4-FFF2-40B4-BE49-F238E27FC236}">
                <a16:creationId xmlns:a16="http://schemas.microsoft.com/office/drawing/2014/main" id="{21FE2CB2-4A92-E88A-CF11-F83290AAD441}"/>
              </a:ext>
            </a:extLst>
          </p:cNvPr>
          <p:cNvCxnSpPr>
            <a:cxnSpLocks/>
            <a:stCxn id="85" idx="3"/>
            <a:endCxn id="56" idx="2"/>
          </p:cNvCxnSpPr>
          <p:nvPr/>
        </p:nvCxnSpPr>
        <p:spPr>
          <a:xfrm flipV="1">
            <a:off x="11793125" y="5214573"/>
            <a:ext cx="83709" cy="113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BCAD96AE-49FF-335E-CDCB-0D137219FAA3}"/>
              </a:ext>
            </a:extLst>
          </p:cNvPr>
          <p:cNvCxnSpPr/>
          <p:nvPr/>
        </p:nvCxnSpPr>
        <p:spPr>
          <a:xfrm>
            <a:off x="9473970" y="550091"/>
            <a:ext cx="0" cy="5724000"/>
          </a:xfrm>
          <a:prstGeom prst="line">
            <a:avLst/>
          </a:prstGeom>
          <a:ln>
            <a:solidFill>
              <a:srgbClr val="00B05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155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62AD8-CBC8-FD45-16F9-679E01D65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20">
            <a:extLst>
              <a:ext uri="{FF2B5EF4-FFF2-40B4-BE49-F238E27FC236}">
                <a16:creationId xmlns:a16="http://schemas.microsoft.com/office/drawing/2014/main" id="{ADB06C9E-4903-3177-4A6F-AAE2AF731307}"/>
              </a:ext>
            </a:extLst>
          </p:cNvPr>
          <p:cNvSpPr txBox="1">
            <a:spLocks/>
          </p:cNvSpPr>
          <p:nvPr/>
        </p:nvSpPr>
        <p:spPr>
          <a:xfrm>
            <a:off x="462869" y="6297673"/>
            <a:ext cx="288000" cy="288000"/>
          </a:xfrm>
          <a:prstGeom prst="rect">
            <a:avLst/>
          </a:prstGeom>
          <a:solidFill>
            <a:srgbClr val="CF0A2C"/>
          </a:solidFill>
        </p:spPr>
        <p:txBody>
          <a:bodyPr vert="horz" lIns="0" tIns="48000" rIns="0" bIns="4800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8018E0-F71D-4BA1-A3CE-67D93F0A687E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wis721 BT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721 BT" pitchFamily="34" charset="0"/>
              <a:ea typeface="+mn-ea"/>
              <a:cs typeface="+mn-cs"/>
            </a:endParaRPr>
          </a:p>
        </p:txBody>
      </p:sp>
      <p:pic>
        <p:nvPicPr>
          <p:cNvPr id="7" name="Picture 2" descr="C:\Users\PTattini\Desktop\logo arcese.emf">
            <a:extLst>
              <a:ext uri="{FF2B5EF4-FFF2-40B4-BE49-F238E27FC236}">
                <a16:creationId xmlns:a16="http://schemas.microsoft.com/office/drawing/2014/main" id="{E741D1F5-95FC-ACB2-8822-73E68E05E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1961" y="6312989"/>
            <a:ext cx="1051200" cy="28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40FE0615-1E0C-2CA8-B31B-1A0C7F620642}"/>
              </a:ext>
            </a:extLst>
          </p:cNvPr>
          <p:cNvSpPr/>
          <p:nvPr/>
        </p:nvSpPr>
        <p:spPr>
          <a:xfrm>
            <a:off x="1" y="0"/>
            <a:ext cx="4026196" cy="6858000"/>
          </a:xfrm>
          <a:custGeom>
            <a:avLst/>
            <a:gdLst>
              <a:gd name="connsiteX0" fmla="*/ 0 w 3019647"/>
              <a:gd name="connsiteY0" fmla="*/ 0 h 5143500"/>
              <a:gd name="connsiteX1" fmla="*/ 1722474 w 3019647"/>
              <a:gd name="connsiteY1" fmla="*/ 0 h 5143500"/>
              <a:gd name="connsiteX2" fmla="*/ 3019647 w 3019647"/>
              <a:gd name="connsiteY2" fmla="*/ 5143500 h 5143500"/>
              <a:gd name="connsiteX3" fmla="*/ 1722474 w 3019647"/>
              <a:gd name="connsiteY3" fmla="*/ 5143500 h 5143500"/>
              <a:gd name="connsiteX4" fmla="*/ 0 w 3019647"/>
              <a:gd name="connsiteY4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9647" h="5143500">
                <a:moveTo>
                  <a:pt x="0" y="0"/>
                </a:moveTo>
                <a:lnTo>
                  <a:pt x="1722474" y="0"/>
                </a:lnTo>
                <a:lnTo>
                  <a:pt x="3019647" y="5143500"/>
                </a:lnTo>
                <a:lnTo>
                  <a:pt x="1722474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CasellaDiTesto 4">
            <a:extLst>
              <a:ext uri="{FF2B5EF4-FFF2-40B4-BE49-F238E27FC236}">
                <a16:creationId xmlns:a16="http://schemas.microsoft.com/office/drawing/2014/main" id="{58ED9BAC-92CB-A799-55F7-AC21D258E900}"/>
              </a:ext>
            </a:extLst>
          </p:cNvPr>
          <p:cNvSpPr txBox="1"/>
          <p:nvPr/>
        </p:nvSpPr>
        <p:spPr>
          <a:xfrm>
            <a:off x="2647270" y="433932"/>
            <a:ext cx="4787932" cy="5643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067" b="0" i="0" u="none" strike="noStrike" kern="1200" cap="none" spc="-200" normalizeH="0" baseline="0" noProof="0">
                <a:ln>
                  <a:noFill/>
                </a:ln>
                <a:solidFill>
                  <a:srgbClr val="CF0A2C"/>
                </a:solidFill>
                <a:effectLst/>
                <a:uLnTx/>
                <a:uFillTx/>
                <a:latin typeface="Swis721 Lt BT" pitchFamily="34" charset="0"/>
                <a:ea typeface="+mn-ea"/>
                <a:cs typeface="+mn-cs"/>
              </a:rPr>
              <a:t>Agenda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8A41DF4-0E4F-92ED-C318-483F5CE1F02F}"/>
              </a:ext>
            </a:extLst>
          </p:cNvPr>
          <p:cNvGrpSpPr/>
          <p:nvPr/>
        </p:nvGrpSpPr>
        <p:grpSpPr>
          <a:xfrm>
            <a:off x="2841851" y="3084386"/>
            <a:ext cx="8609141" cy="595034"/>
            <a:chOff x="2443103" y="3458480"/>
            <a:chExt cx="6456856" cy="44627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FBBB3DC-B1EB-F177-4700-537E021BE1F6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CasellaDiTesto 21">
              <a:extLst>
                <a:ext uri="{FF2B5EF4-FFF2-40B4-BE49-F238E27FC236}">
                  <a16:creationId xmlns:a16="http://schemas.microsoft.com/office/drawing/2014/main" id="{85C114C1-9E81-6FAE-8449-382E44725875}"/>
                </a:ext>
              </a:extLst>
            </p:cNvPr>
            <p:cNvSpPr txBox="1"/>
            <p:nvPr/>
          </p:nvSpPr>
          <p:spPr>
            <a:xfrm>
              <a:off x="3019647" y="3510834"/>
              <a:ext cx="5880312" cy="341585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Focus on </a:t>
              </a:r>
              <a:r>
                <a:rPr kumimoji="0" lang="en-US" sz="1867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Tavoli</a:t>
              </a: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TMS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D40C6B-9B97-1360-180C-2DBC72917D78}"/>
              </a:ext>
            </a:extLst>
          </p:cNvPr>
          <p:cNvGrpSpPr/>
          <p:nvPr/>
        </p:nvGrpSpPr>
        <p:grpSpPr>
          <a:xfrm>
            <a:off x="3070907" y="3976220"/>
            <a:ext cx="8609141" cy="946199"/>
            <a:chOff x="2443103" y="3458480"/>
            <a:chExt cx="6456856" cy="7096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ACB4E12-611C-DD1D-CC52-467CB6EA2E6C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CasellaDiTesto 21">
              <a:extLst>
                <a:ext uri="{FF2B5EF4-FFF2-40B4-BE49-F238E27FC236}">
                  <a16:creationId xmlns:a16="http://schemas.microsoft.com/office/drawing/2014/main" id="{2F1C0CCC-CEE7-DB24-E4B9-A8F2C8A1D1FE}"/>
                </a:ext>
              </a:extLst>
            </p:cNvPr>
            <p:cNvSpPr txBox="1"/>
            <p:nvPr/>
          </p:nvSpPr>
          <p:spPr>
            <a:xfrm>
              <a:off x="3019647" y="3488712"/>
              <a:ext cx="5880312" cy="679418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>
                <a:defRPr/>
              </a:pPr>
              <a:r>
                <a:rPr lang="en-US" sz="1867" b="1" dirty="0" err="1">
                  <a:latin typeface="Century Gothic"/>
                </a:rPr>
                <a:t>Iniziative</a:t>
              </a:r>
              <a:endParaRPr lang="en-US" sz="1867" b="1" dirty="0">
                <a:latin typeface="Century Gothic"/>
              </a:endParaRPr>
            </a:p>
            <a:p>
              <a:pPr lvl="0">
                <a:defRPr/>
              </a:pPr>
              <a:endParaRPr kumimoji="0" lang="en-US" sz="1867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</p:grpSp>
      <p:grpSp>
        <p:nvGrpSpPr>
          <p:cNvPr id="2" name="Group 16">
            <a:extLst>
              <a:ext uri="{FF2B5EF4-FFF2-40B4-BE49-F238E27FC236}">
                <a16:creationId xmlns:a16="http://schemas.microsoft.com/office/drawing/2014/main" id="{6C1B1321-F5E3-E39C-4C32-ECAB5C97AF24}"/>
              </a:ext>
            </a:extLst>
          </p:cNvPr>
          <p:cNvGrpSpPr/>
          <p:nvPr/>
        </p:nvGrpSpPr>
        <p:grpSpPr>
          <a:xfrm>
            <a:off x="2647270" y="2250265"/>
            <a:ext cx="8609141" cy="595034"/>
            <a:chOff x="2443103" y="3458480"/>
            <a:chExt cx="6456856" cy="446276"/>
          </a:xfrm>
        </p:grpSpPr>
        <p:sp>
          <p:nvSpPr>
            <p:cNvPr id="3" name="Oval 17">
              <a:extLst>
                <a:ext uri="{FF2B5EF4-FFF2-40B4-BE49-F238E27FC236}">
                  <a16:creationId xmlns:a16="http://schemas.microsoft.com/office/drawing/2014/main" id="{7042EC66-57CE-15E7-4EE7-AD20E5FC4F97}"/>
                </a:ext>
              </a:extLst>
            </p:cNvPr>
            <p:cNvSpPr/>
            <p:nvPr/>
          </p:nvSpPr>
          <p:spPr>
            <a:xfrm>
              <a:off x="2443103" y="3458480"/>
              <a:ext cx="446276" cy="446276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CasellaDiTesto 21">
              <a:extLst>
                <a:ext uri="{FF2B5EF4-FFF2-40B4-BE49-F238E27FC236}">
                  <a16:creationId xmlns:a16="http://schemas.microsoft.com/office/drawing/2014/main" id="{35BB1390-CDD7-FC19-650B-AE5E0AC993D8}"/>
                </a:ext>
              </a:extLst>
            </p:cNvPr>
            <p:cNvSpPr txBox="1"/>
            <p:nvPr/>
          </p:nvSpPr>
          <p:spPr>
            <a:xfrm>
              <a:off x="3019647" y="3510834"/>
              <a:ext cx="5880312" cy="341585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Aft>
                  <a:spcPts val="600"/>
                </a:spcAft>
                <a:defRPr sz="1200">
                  <a:latin typeface="Swis721 Md BT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668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185CE-FA3E-5EAF-91B9-3F2DDEB80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F6AE7169-E53C-1B8A-99EF-3C3D5CE44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1219140">
              <a:defRPr/>
            </a:pPr>
            <a:fld id="{03F3B942-8D34-44F8-88C7-498198B89D0D}" type="slidenum">
              <a:rPr lang="it-IT" kern="0">
                <a:solidFill>
                  <a:prstClr val="white"/>
                </a:solidFill>
              </a:rPr>
              <a:pPr defTabSz="1219140">
                <a:defRPr/>
              </a:pPr>
              <a:t>9</a:t>
            </a:fld>
            <a:endParaRPr lang="it-IT" kern="0">
              <a:solidFill>
                <a:prstClr val="white"/>
              </a:solidFill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7967C9E3-F13C-005B-817D-52142109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-27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Iniziative in corso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3174002-5E34-F60A-DD8B-DA63C66C4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60963"/>
              </p:ext>
            </p:extLst>
          </p:nvPr>
        </p:nvGraphicFramePr>
        <p:xfrm>
          <a:off x="275548" y="1101627"/>
          <a:ext cx="11616264" cy="52000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11597">
                  <a:extLst>
                    <a:ext uri="{9D8B030D-6E8A-4147-A177-3AD203B41FA5}">
                      <a16:colId xmlns:a16="http://schemas.microsoft.com/office/drawing/2014/main" val="2478663728"/>
                    </a:ext>
                  </a:extLst>
                </a:gridCol>
                <a:gridCol w="2637691">
                  <a:extLst>
                    <a:ext uri="{9D8B030D-6E8A-4147-A177-3AD203B41FA5}">
                      <a16:colId xmlns:a16="http://schemas.microsoft.com/office/drawing/2014/main" val="3572895864"/>
                    </a:ext>
                  </a:extLst>
                </a:gridCol>
                <a:gridCol w="507528">
                  <a:extLst>
                    <a:ext uri="{9D8B030D-6E8A-4147-A177-3AD203B41FA5}">
                      <a16:colId xmlns:a16="http://schemas.microsoft.com/office/drawing/2014/main" val="665621902"/>
                    </a:ext>
                  </a:extLst>
                </a:gridCol>
                <a:gridCol w="608697">
                  <a:extLst>
                    <a:ext uri="{9D8B030D-6E8A-4147-A177-3AD203B41FA5}">
                      <a16:colId xmlns:a16="http://schemas.microsoft.com/office/drawing/2014/main" val="3377496009"/>
                    </a:ext>
                  </a:extLst>
                </a:gridCol>
                <a:gridCol w="659423">
                  <a:extLst>
                    <a:ext uri="{9D8B030D-6E8A-4147-A177-3AD203B41FA5}">
                      <a16:colId xmlns:a16="http://schemas.microsoft.com/office/drawing/2014/main" val="3423080611"/>
                    </a:ext>
                  </a:extLst>
                </a:gridCol>
                <a:gridCol w="1014496">
                  <a:extLst>
                    <a:ext uri="{9D8B030D-6E8A-4147-A177-3AD203B41FA5}">
                      <a16:colId xmlns:a16="http://schemas.microsoft.com/office/drawing/2014/main" val="1366636479"/>
                    </a:ext>
                  </a:extLst>
                </a:gridCol>
                <a:gridCol w="2672563">
                  <a:extLst>
                    <a:ext uri="{9D8B030D-6E8A-4147-A177-3AD203B41FA5}">
                      <a16:colId xmlns:a16="http://schemas.microsoft.com/office/drawing/2014/main" val="3356326918"/>
                    </a:ext>
                  </a:extLst>
                </a:gridCol>
                <a:gridCol w="2704269">
                  <a:extLst>
                    <a:ext uri="{9D8B030D-6E8A-4147-A177-3AD203B41FA5}">
                      <a16:colId xmlns:a16="http://schemas.microsoft.com/office/drawing/2014/main" val="2662618831"/>
                    </a:ext>
                  </a:extLst>
                </a:gridCol>
              </a:tblGrid>
              <a:tr h="359972"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ID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TITLE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RAG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b="1">
                          <a:latin typeface="+mj-lt"/>
                          <a:ea typeface="Roboto"/>
                          <a:cs typeface="Roboto"/>
                        </a:rPr>
                        <a:t>%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PHASE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RELEASE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Ultimo Stato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Prossimi Passi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621570"/>
                  </a:ext>
                </a:extLst>
              </a:tr>
              <a:tr h="714720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WAV-94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effectLst/>
                          <a:latin typeface="+mj-lt"/>
                        </a:rPr>
                        <a:t>EPM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80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UAT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trike="sngStrike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30/04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15/07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err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Definita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soluzione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 per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gestione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consolidato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tramite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 report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Completare UAT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30954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CR-145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Reporting Finance (Spedizioni non valorizzate)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HLD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strike="sngStrike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30/09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TBD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 review soluzione Data Platform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Condividere business case aggiornato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293540"/>
                  </a:ext>
                </a:extLst>
              </a:tr>
              <a:tr h="714720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PRJ-509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Automatizzazione solleciti pagamenti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BR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30/10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Mappato processo as-is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Valutata soluzione standard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Condividere proposta implementazione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067897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PRJ-508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Automatizzazione registrazione fatture passive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BR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2027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Mappato processo as-is per fatture fornitori diretti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Mappare processo as-is per fatture fornitori indiretti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27820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PRJ-507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Abbinamento automatico incassi e fatture clienti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UAT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30/06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Definita soluzione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Avviare test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742177"/>
                  </a:ext>
                </a:extLst>
              </a:tr>
              <a:tr h="714720">
                <a:tc>
                  <a:txBody>
                    <a:bodyPr/>
                    <a:lstStyle/>
                    <a:p>
                      <a:pPr marL="0" algn="ctr" eaLnBrk="1" fontAlgn="t" hangingPunct="1"/>
                      <a:br>
                        <a:rPr lang="it-IT" sz="900"/>
                      </a:br>
                      <a:r>
                        <a:rPr lang="it-IT" sz="900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WAV-317</a:t>
                      </a:r>
                      <a:endParaRPr lang="it-IT" sz="900" b="0" i="0" u="none" strike="noStrike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effectLst/>
                          <a:latin typeface="+mj-lt"/>
                        </a:rPr>
                        <a:t>Reverse charge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40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DEV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04/08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Iniziativa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approvata</a:t>
                      </a: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valutazione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automatizzazione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generazione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F24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Pianificare test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506922"/>
                  </a:ext>
                </a:extLst>
              </a:tr>
              <a:tr h="714720">
                <a:tc>
                  <a:txBody>
                    <a:bodyPr/>
                    <a:lstStyle/>
                    <a:p>
                      <a:pPr marL="0" algn="ctr" eaLnBrk="1" fontAlgn="t" hangingPunct="1"/>
                      <a:br>
                        <a:rPr lang="it-IT" sz="900"/>
                      </a:br>
                      <a:r>
                        <a:rPr lang="it-IT" sz="900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WAV-402</a:t>
                      </a:r>
                      <a:endParaRPr lang="it-IT" sz="900" b="0" i="0" u="none" strike="noStrike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kern="1200" cap="none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Reverse charge – Generazione F24</a:t>
                      </a:r>
                      <a:endParaRPr lang="en-US" sz="900" b="0" i="0" u="none" strike="noStrike">
                        <a:effectLst/>
                        <a:latin typeface="+mj-lt"/>
                      </a:endParaRP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20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HLD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TBD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 valutazione soluzione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 dirty="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Condividere soluzione, tempi e costi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072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267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269B-C94F-14B6-9A88-859AF2FA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3EE3B6D-3711-00FA-54A1-52C10B4C8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1219140">
              <a:defRPr/>
            </a:pPr>
            <a:fld id="{03F3B942-8D34-44F8-88C7-498198B89D0D}" type="slidenum">
              <a:rPr lang="it-IT" kern="0">
                <a:solidFill>
                  <a:prstClr val="white"/>
                </a:solidFill>
              </a:rPr>
              <a:pPr defTabSz="1219140">
                <a:defRPr/>
              </a:pPr>
              <a:t>10</a:t>
            </a:fld>
            <a:endParaRPr lang="it-IT" kern="0">
              <a:solidFill>
                <a:prstClr val="white"/>
              </a:solidFill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C7B1593F-EA86-710D-9EB8-A7AA6665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-27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Iniziative in corso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7A230729-E292-855B-50FE-0C8A18B90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444830"/>
              </p:ext>
            </p:extLst>
          </p:nvPr>
        </p:nvGraphicFramePr>
        <p:xfrm>
          <a:off x="275548" y="1101627"/>
          <a:ext cx="11616264" cy="49214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11597">
                  <a:extLst>
                    <a:ext uri="{9D8B030D-6E8A-4147-A177-3AD203B41FA5}">
                      <a16:colId xmlns:a16="http://schemas.microsoft.com/office/drawing/2014/main" val="2478663728"/>
                    </a:ext>
                  </a:extLst>
                </a:gridCol>
                <a:gridCol w="2637691">
                  <a:extLst>
                    <a:ext uri="{9D8B030D-6E8A-4147-A177-3AD203B41FA5}">
                      <a16:colId xmlns:a16="http://schemas.microsoft.com/office/drawing/2014/main" val="3572895864"/>
                    </a:ext>
                  </a:extLst>
                </a:gridCol>
                <a:gridCol w="507528">
                  <a:extLst>
                    <a:ext uri="{9D8B030D-6E8A-4147-A177-3AD203B41FA5}">
                      <a16:colId xmlns:a16="http://schemas.microsoft.com/office/drawing/2014/main" val="665621902"/>
                    </a:ext>
                  </a:extLst>
                </a:gridCol>
                <a:gridCol w="608697">
                  <a:extLst>
                    <a:ext uri="{9D8B030D-6E8A-4147-A177-3AD203B41FA5}">
                      <a16:colId xmlns:a16="http://schemas.microsoft.com/office/drawing/2014/main" val="3377496009"/>
                    </a:ext>
                  </a:extLst>
                </a:gridCol>
                <a:gridCol w="659423">
                  <a:extLst>
                    <a:ext uri="{9D8B030D-6E8A-4147-A177-3AD203B41FA5}">
                      <a16:colId xmlns:a16="http://schemas.microsoft.com/office/drawing/2014/main" val="3423080611"/>
                    </a:ext>
                  </a:extLst>
                </a:gridCol>
                <a:gridCol w="1014496">
                  <a:extLst>
                    <a:ext uri="{9D8B030D-6E8A-4147-A177-3AD203B41FA5}">
                      <a16:colId xmlns:a16="http://schemas.microsoft.com/office/drawing/2014/main" val="1366636479"/>
                    </a:ext>
                  </a:extLst>
                </a:gridCol>
                <a:gridCol w="2672563">
                  <a:extLst>
                    <a:ext uri="{9D8B030D-6E8A-4147-A177-3AD203B41FA5}">
                      <a16:colId xmlns:a16="http://schemas.microsoft.com/office/drawing/2014/main" val="3356326918"/>
                    </a:ext>
                  </a:extLst>
                </a:gridCol>
                <a:gridCol w="2704269">
                  <a:extLst>
                    <a:ext uri="{9D8B030D-6E8A-4147-A177-3AD203B41FA5}">
                      <a16:colId xmlns:a16="http://schemas.microsoft.com/office/drawing/2014/main" val="2662618831"/>
                    </a:ext>
                  </a:extLst>
                </a:gridCol>
              </a:tblGrid>
              <a:tr h="359972"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ID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TITLE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RAG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b="1">
                          <a:latin typeface="+mj-lt"/>
                          <a:ea typeface="Roboto"/>
                          <a:cs typeface="Roboto"/>
                        </a:rPr>
                        <a:t>%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PHASE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RELEASE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Ultimo Stato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Prossimi Passi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621570"/>
                  </a:ext>
                </a:extLst>
              </a:tr>
              <a:tr h="714720"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WAV-271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Invoice split - Francia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noProof="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b="1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20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BR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2027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Completata condivisione processo Italia e raccolte specificità Francia (Arcese+Ventana)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Condividere benefici, costi e piano di dettaglio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30954"/>
                  </a:ext>
                </a:extLst>
              </a:tr>
              <a:tr h="572480"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WAV-176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effectLst/>
                          <a:latin typeface="+mj-lt"/>
                        </a:rPr>
                        <a:t>Invoice split - Spagna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20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HLD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noProof="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31/09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Condiviso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processo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 Italia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In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raccolta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materiale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necessario</a:t>
                      </a: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Condividere effort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682007"/>
                  </a:ext>
                </a:extLst>
              </a:tr>
              <a:tr h="714720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WAV-123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effectLst/>
                          <a:latin typeface="+mj-lt"/>
                        </a:rPr>
                        <a:t>Data Archiving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55</a:t>
                      </a:r>
                      <a:endParaRPr kumimoji="0" lang="it-IT" sz="1100" b="1" i="0" u="none" strike="noStrike" kern="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DEV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latin typeface="+mn-lt"/>
                          <a:ea typeface="Roboto"/>
                          <a:cs typeface="Roboto"/>
                        </a:rPr>
                        <a:t>30/06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In corso archiviazione dati Tax Transaction anno 2023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In Corso approfondimenti su Dataverse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2400"/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293540"/>
                  </a:ext>
                </a:extLst>
              </a:tr>
              <a:tr h="466224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CR-355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effectLst/>
                          <a:latin typeface="+mj-lt"/>
                        </a:rPr>
                        <a:t>Credit report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20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HLD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noProof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31/07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Soluzione approvata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Negoziazione economica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067897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WAV-133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Gestione e qualifica contratti fornitori indiretti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20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HLD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Roboto"/>
                          <a:cs typeface="Roboto"/>
                        </a:rPr>
                        <a:t>2027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Rivisti requisiti per primo MVP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Condividere costi aggiornati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015624"/>
                  </a:ext>
                </a:extLst>
              </a:tr>
              <a:tr h="572480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Release 10.0.47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Da avviare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21/06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Schedulazione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confermata</a:t>
                      </a: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ea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it-IT" sz="900" noProof="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Comunicazione piano con inizio test 21/05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563761"/>
                  </a:ext>
                </a:extLst>
              </a:tr>
              <a:tr h="430240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Release 10.0.49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Da avviare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24/10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endParaRPr lang="it-IT" sz="900" b="0" i="0" u="none" strike="noStrike" noProof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76618"/>
                  </a:ext>
                </a:extLst>
              </a:tr>
              <a:tr h="430240"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CR-391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effectLst/>
                          <a:latin typeface="+mj-lt"/>
                        </a:rPr>
                        <a:t>Spagna – Modifica tag in tracciato SII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90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TEST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noProof="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30/06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it-IT" sz="900" dirty="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Completare test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22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71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A4C2-384F-16F8-F2C2-EB166E9D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844A31B6-8ED5-CE49-1341-804D911CF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1219140">
              <a:defRPr/>
            </a:pPr>
            <a:fld id="{03F3B942-8D34-44F8-88C7-498198B89D0D}" type="slidenum">
              <a:rPr lang="it-IT" kern="0">
                <a:solidFill>
                  <a:prstClr val="white"/>
                </a:solidFill>
              </a:rPr>
              <a:pPr defTabSz="1219140">
                <a:defRPr/>
              </a:pPr>
              <a:t>11</a:t>
            </a:fld>
            <a:endParaRPr lang="it-IT" kern="0">
              <a:solidFill>
                <a:prstClr val="white"/>
              </a:solidFill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611DB025-5582-ADD0-CB56-3CEB39E34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28" y="364854"/>
            <a:ext cx="11758773" cy="567591"/>
          </a:xfrm>
        </p:spPr>
        <p:txBody>
          <a:bodyPr/>
          <a:lstStyle/>
          <a:p>
            <a:r>
              <a:rPr lang="it-IT" spc="-27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Iniziative in corso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9698F3B3-CEC9-1349-ED72-BD167DA3E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84344"/>
              </p:ext>
            </p:extLst>
          </p:nvPr>
        </p:nvGraphicFramePr>
        <p:xfrm>
          <a:off x="275548" y="1101627"/>
          <a:ext cx="11616264" cy="49827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11597">
                  <a:extLst>
                    <a:ext uri="{9D8B030D-6E8A-4147-A177-3AD203B41FA5}">
                      <a16:colId xmlns:a16="http://schemas.microsoft.com/office/drawing/2014/main" val="2478663728"/>
                    </a:ext>
                  </a:extLst>
                </a:gridCol>
                <a:gridCol w="2637691">
                  <a:extLst>
                    <a:ext uri="{9D8B030D-6E8A-4147-A177-3AD203B41FA5}">
                      <a16:colId xmlns:a16="http://schemas.microsoft.com/office/drawing/2014/main" val="3572895864"/>
                    </a:ext>
                  </a:extLst>
                </a:gridCol>
                <a:gridCol w="507528">
                  <a:extLst>
                    <a:ext uri="{9D8B030D-6E8A-4147-A177-3AD203B41FA5}">
                      <a16:colId xmlns:a16="http://schemas.microsoft.com/office/drawing/2014/main" val="665621902"/>
                    </a:ext>
                  </a:extLst>
                </a:gridCol>
                <a:gridCol w="608697">
                  <a:extLst>
                    <a:ext uri="{9D8B030D-6E8A-4147-A177-3AD203B41FA5}">
                      <a16:colId xmlns:a16="http://schemas.microsoft.com/office/drawing/2014/main" val="3377496009"/>
                    </a:ext>
                  </a:extLst>
                </a:gridCol>
                <a:gridCol w="659423">
                  <a:extLst>
                    <a:ext uri="{9D8B030D-6E8A-4147-A177-3AD203B41FA5}">
                      <a16:colId xmlns:a16="http://schemas.microsoft.com/office/drawing/2014/main" val="3423080611"/>
                    </a:ext>
                  </a:extLst>
                </a:gridCol>
                <a:gridCol w="1014496">
                  <a:extLst>
                    <a:ext uri="{9D8B030D-6E8A-4147-A177-3AD203B41FA5}">
                      <a16:colId xmlns:a16="http://schemas.microsoft.com/office/drawing/2014/main" val="1366636479"/>
                    </a:ext>
                  </a:extLst>
                </a:gridCol>
                <a:gridCol w="2672563">
                  <a:extLst>
                    <a:ext uri="{9D8B030D-6E8A-4147-A177-3AD203B41FA5}">
                      <a16:colId xmlns:a16="http://schemas.microsoft.com/office/drawing/2014/main" val="3356326918"/>
                    </a:ext>
                  </a:extLst>
                </a:gridCol>
                <a:gridCol w="2704269">
                  <a:extLst>
                    <a:ext uri="{9D8B030D-6E8A-4147-A177-3AD203B41FA5}">
                      <a16:colId xmlns:a16="http://schemas.microsoft.com/office/drawing/2014/main" val="2662618831"/>
                    </a:ext>
                  </a:extLst>
                </a:gridCol>
              </a:tblGrid>
              <a:tr h="359972"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ID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TITLE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RAG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b="1">
                          <a:latin typeface="+mj-lt"/>
                          <a:ea typeface="Roboto"/>
                          <a:cs typeface="Roboto"/>
                        </a:rPr>
                        <a:t>%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PHASE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RELEASE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Ultimo Stato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Prossimi Passi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621570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CR-398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Belgio – Automatizzazione campi fatturazione elettronica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HLD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strike="sngStrike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15/06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TBD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Condivisa soluzione e effort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Negoziazione economica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277266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WAV-154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Fatturazione elettronica Francia + Arxivar Ciclo Passivo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LLD</a:t>
                      </a:r>
                    </a:p>
                  </a:txBody>
                  <a:tcPr marL="0" marR="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01/09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Approvata iniziativa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it-IT" sz="900"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Pianificazione test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741924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WAV-386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Fatturazione elettronica Francia – Ciclo Attivo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Da avviare</a:t>
                      </a:r>
                    </a:p>
                  </a:txBody>
                  <a:tcPr marL="0" marR="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TBD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it-IT" sz="900"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720214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CR-83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effectLst/>
                          <a:latin typeface="+mj-lt"/>
                        </a:rPr>
                        <a:t>SAP Concur – Collegamento richiesta di trasferta note spese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70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UAT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latin typeface="+mj-lt"/>
                          <a:ea typeface="Roboto"/>
                          <a:cs typeface="Roboto"/>
                        </a:rPr>
                        <a:t>13/07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</a:rPr>
                        <a:t>Completati sviluppi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</a:rPr>
                        <a:t>Completare test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30954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WAV-307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SAP Concur - Modulo Travel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SCOUTING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30/06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corso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scouting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tra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diverse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piattaforme</a:t>
                      </a: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Condividere matrice di comparazione con risultati valutazioni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682007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CR-396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SAP Concur – Approvazione km auto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BR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2027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+mn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Consolidare e validare i requisiti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293540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WAV.92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 err="1">
                          <a:effectLst/>
                          <a:latin typeface="+mj-lt"/>
                        </a:rPr>
                        <a:t>Sp@ce</a:t>
                      </a:r>
                      <a:r>
                        <a:rPr lang="en-US" sz="900" b="0" i="0" u="none" strike="noStrike" dirty="0">
                          <a:effectLst/>
                          <a:latin typeface="+mj-lt"/>
                        </a:rPr>
                        <a:t> – </a:t>
                      </a:r>
                      <a:r>
                        <a:rPr lang="en-US" sz="900" b="0" i="0" u="none" strike="noStrike" dirty="0" err="1">
                          <a:effectLst/>
                          <a:latin typeface="+mj-lt"/>
                        </a:rPr>
                        <a:t>Notifiche</a:t>
                      </a:r>
                      <a:r>
                        <a:rPr lang="en-US" sz="900" b="0" i="0" u="none" strike="noStrike" dirty="0">
                          <a:effectLst/>
                          <a:latin typeface="+mj-lt"/>
                        </a:rPr>
                        <a:t> asset owner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90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TEST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strike="noStrike">
                          <a:latin typeface="+mj-lt"/>
                          <a:ea typeface="Roboto"/>
                          <a:cs typeface="Roboto"/>
                        </a:rPr>
                        <a:t>30/06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Completati test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it-IT" sz="900" dirty="0"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Rilasciare in produzione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590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527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394F8-AF88-C064-15BD-BAED0A2B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74421DB3-A22A-3802-55AC-DF71F6D7D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-27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Suspended</a:t>
            </a:r>
            <a:r>
              <a:rPr lang="it-IT" spc="-27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it-IT" spc="-27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Initiatives</a:t>
            </a:r>
            <a:endParaRPr lang="it-IT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DBE076-C323-0CDB-96A6-DEA64A22B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3F3B942-8D34-44F8-88C7-498198B89D0D}" type="slidenum">
              <a:rPr lang="it-IT" smtClean="0"/>
              <a:pPr/>
              <a:t>12</a:t>
            </a:fld>
            <a:endParaRPr lang="en-US"/>
          </a:p>
        </p:txBody>
      </p:sp>
      <p:graphicFrame>
        <p:nvGraphicFramePr>
          <p:cNvPr id="7" name="Tabella 5">
            <a:extLst>
              <a:ext uri="{FF2B5EF4-FFF2-40B4-BE49-F238E27FC236}">
                <a16:creationId xmlns:a16="http://schemas.microsoft.com/office/drawing/2014/main" id="{17540B72-77E7-BF1A-6C77-C59FB9564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085847"/>
              </p:ext>
            </p:extLst>
          </p:nvPr>
        </p:nvGraphicFramePr>
        <p:xfrm>
          <a:off x="275548" y="1101627"/>
          <a:ext cx="11616264" cy="49827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11597">
                  <a:extLst>
                    <a:ext uri="{9D8B030D-6E8A-4147-A177-3AD203B41FA5}">
                      <a16:colId xmlns:a16="http://schemas.microsoft.com/office/drawing/2014/main" val="2478663728"/>
                    </a:ext>
                  </a:extLst>
                </a:gridCol>
                <a:gridCol w="2637691">
                  <a:extLst>
                    <a:ext uri="{9D8B030D-6E8A-4147-A177-3AD203B41FA5}">
                      <a16:colId xmlns:a16="http://schemas.microsoft.com/office/drawing/2014/main" val="3572895864"/>
                    </a:ext>
                  </a:extLst>
                </a:gridCol>
                <a:gridCol w="507528">
                  <a:extLst>
                    <a:ext uri="{9D8B030D-6E8A-4147-A177-3AD203B41FA5}">
                      <a16:colId xmlns:a16="http://schemas.microsoft.com/office/drawing/2014/main" val="665621902"/>
                    </a:ext>
                  </a:extLst>
                </a:gridCol>
                <a:gridCol w="608697">
                  <a:extLst>
                    <a:ext uri="{9D8B030D-6E8A-4147-A177-3AD203B41FA5}">
                      <a16:colId xmlns:a16="http://schemas.microsoft.com/office/drawing/2014/main" val="3377496009"/>
                    </a:ext>
                  </a:extLst>
                </a:gridCol>
                <a:gridCol w="659423">
                  <a:extLst>
                    <a:ext uri="{9D8B030D-6E8A-4147-A177-3AD203B41FA5}">
                      <a16:colId xmlns:a16="http://schemas.microsoft.com/office/drawing/2014/main" val="3423080611"/>
                    </a:ext>
                  </a:extLst>
                </a:gridCol>
                <a:gridCol w="1014496">
                  <a:extLst>
                    <a:ext uri="{9D8B030D-6E8A-4147-A177-3AD203B41FA5}">
                      <a16:colId xmlns:a16="http://schemas.microsoft.com/office/drawing/2014/main" val="1366636479"/>
                    </a:ext>
                  </a:extLst>
                </a:gridCol>
                <a:gridCol w="2672563">
                  <a:extLst>
                    <a:ext uri="{9D8B030D-6E8A-4147-A177-3AD203B41FA5}">
                      <a16:colId xmlns:a16="http://schemas.microsoft.com/office/drawing/2014/main" val="3356326918"/>
                    </a:ext>
                  </a:extLst>
                </a:gridCol>
                <a:gridCol w="2704269">
                  <a:extLst>
                    <a:ext uri="{9D8B030D-6E8A-4147-A177-3AD203B41FA5}">
                      <a16:colId xmlns:a16="http://schemas.microsoft.com/office/drawing/2014/main" val="2662618831"/>
                    </a:ext>
                  </a:extLst>
                </a:gridCol>
              </a:tblGrid>
              <a:tr h="359972"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ID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TITLE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RAG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b="1">
                          <a:latin typeface="+mj-lt"/>
                          <a:ea typeface="Roboto"/>
                          <a:cs typeface="Roboto"/>
                        </a:rPr>
                        <a:t>%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latin typeface="+mj-lt"/>
                          <a:ea typeface="Roboto"/>
                          <a:cs typeface="Roboto"/>
                        </a:rPr>
                        <a:t>PHASE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RELEASE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Ultimo Stato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latin typeface="+mj-lt"/>
                          <a:ea typeface="Roboto"/>
                          <a:cs typeface="Roboto"/>
                        </a:rPr>
                        <a:t>Prossimi Passi</a:t>
                      </a: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621570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CR-398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Belgio – Automatizzazione campi fatturazione elettronica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HLD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dirty="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Sospeso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su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indicazione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di xx</a:t>
                      </a: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it-IT" sz="900">
                        <a:solidFill>
                          <a:schemeClr val="dk1"/>
                        </a:solidFill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277266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WAV-154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Fatturazione elettronica Francia + Arxivar Ciclo Passivo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LLD</a:t>
                      </a:r>
                    </a:p>
                  </a:txBody>
                  <a:tcPr marL="0" marR="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dirty="0">
                        <a:solidFill>
                          <a:schemeClr val="dk1"/>
                        </a:solidFill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dirty="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it-IT" sz="900"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741924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WAV-386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Fatturazione elettronica Francia – Ciclo Attivo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Da avviare</a:t>
                      </a:r>
                    </a:p>
                  </a:txBody>
                  <a:tcPr marL="0" marR="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>
                        <a:solidFill>
                          <a:schemeClr val="dk1"/>
                        </a:solidFill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dirty="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it-IT" sz="900"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720214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CR-83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effectLst/>
                          <a:latin typeface="+mj-lt"/>
                        </a:rPr>
                        <a:t>SAP Concur – Collegamento richiesta di trasferta note spese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70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UAT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dirty="0">
                        <a:solidFill>
                          <a:schemeClr val="dk1"/>
                        </a:solidFill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30954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WAV-307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SAP Concur - Modulo Travel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SCOUTING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it-IT" sz="900" dirty="0">
                        <a:solidFill>
                          <a:schemeClr val="dk1"/>
                        </a:solidFill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682007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CR-396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SAP Concur – Approvazione km auto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>
                          <a:effectLst/>
                          <a:latin typeface="+mj-lt"/>
                        </a:rPr>
                        <a:t>BR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it-IT" sz="900" dirty="0">
                        <a:solidFill>
                          <a:schemeClr val="dk1"/>
                        </a:solidFill>
                        <a:latin typeface="+mn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293540"/>
                  </a:ext>
                </a:extLst>
              </a:tr>
              <a:tr h="660392">
                <a:tc>
                  <a:txBody>
                    <a:bodyPr/>
                    <a:lstStyle/>
                    <a:p>
                      <a:pPr marL="0" algn="ctr" eaLnBrk="1" fontAlgn="t" hangingPunct="1"/>
                      <a:r>
                        <a:rPr lang="it-IT" sz="900" b="0" i="0" u="none" strike="noStrike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WAV.92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 err="1">
                          <a:effectLst/>
                          <a:latin typeface="+mj-lt"/>
                        </a:rPr>
                        <a:t>Sp@ce</a:t>
                      </a:r>
                      <a:r>
                        <a:rPr lang="en-US" sz="900" b="0" i="0" u="none" strike="noStrike" dirty="0">
                          <a:effectLst/>
                          <a:latin typeface="+mj-lt"/>
                        </a:rPr>
                        <a:t> – </a:t>
                      </a:r>
                      <a:r>
                        <a:rPr lang="en-US" sz="900" b="0" i="0" u="none" strike="noStrike" dirty="0" err="1">
                          <a:effectLst/>
                          <a:latin typeface="+mj-lt"/>
                        </a:rPr>
                        <a:t>Notifiche</a:t>
                      </a:r>
                      <a:r>
                        <a:rPr lang="en-US" sz="900" b="0" i="0" u="none" strike="noStrike" dirty="0">
                          <a:effectLst/>
                          <a:latin typeface="+mj-lt"/>
                        </a:rPr>
                        <a:t> asset owner</a:t>
                      </a:r>
                    </a:p>
                  </a:txBody>
                  <a:tcPr marL="96000" marR="9600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Roboto"/>
                          <a:cs typeface="Roboto"/>
                        </a:rPr>
                        <a:t>90</a:t>
                      </a:r>
                    </a:p>
                  </a:txBody>
                  <a:tcPr marL="48000" marR="48000" marT="45716" marB="45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900" b="0" i="0" u="none" strike="noStrike" dirty="0">
                          <a:effectLst/>
                          <a:latin typeface="+mj-lt"/>
                        </a:rPr>
                        <a:t>TEST</a:t>
                      </a:r>
                    </a:p>
                  </a:txBody>
                  <a:tcPr marL="10160" marR="10160" marT="1016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strike="noStrike">
                        <a:latin typeface="+mj-lt"/>
                        <a:ea typeface="Roboto"/>
                        <a:cs typeface="Roboto"/>
                      </a:endParaRPr>
                    </a:p>
                  </a:txBody>
                  <a:tcPr marL="48000" marR="48000" marT="48000" marB="48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>
                        <a:solidFill>
                          <a:schemeClr val="dk1"/>
                        </a:solidFill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it-IT" sz="900" dirty="0">
                        <a:latin typeface="+mj-lt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43988" marR="144000" marT="144000" marB="144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590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044081"/>
      </p:ext>
    </p:extLst>
  </p:cSld>
  <p:clrMapOvr>
    <a:masterClrMapping/>
  </p:clrMapOvr>
</p:sld>
</file>

<file path=ppt/theme/theme1.xml><?xml version="1.0" encoding="utf-8"?>
<a:theme xmlns:a="http://schemas.openxmlformats.org/drawingml/2006/main" name="Arcese">
  <a:themeElements>
    <a:clrScheme name="Arcese">
      <a:dk1>
        <a:sysClr val="windowText" lastClr="000000"/>
      </a:dk1>
      <a:lt1>
        <a:sysClr val="window" lastClr="FFFFFF"/>
      </a:lt1>
      <a:dk2>
        <a:srgbClr val="504C43"/>
      </a:dk2>
      <a:lt2>
        <a:srgbClr val="EBE6E0"/>
      </a:lt2>
      <a:accent1>
        <a:srgbClr val="C8102E"/>
      </a:accent1>
      <a:accent2>
        <a:srgbClr val="EBE6E0"/>
      </a:accent2>
      <a:accent3>
        <a:srgbClr val="A4D233"/>
      </a:accent3>
      <a:accent4>
        <a:srgbClr val="CDC9C1"/>
      </a:accent4>
      <a:accent5>
        <a:srgbClr val="858075"/>
      </a:accent5>
      <a:accent6>
        <a:srgbClr val="504C43"/>
      </a:accent6>
      <a:hlink>
        <a:srgbClr val="504C43"/>
      </a:hlink>
      <a:folHlink>
        <a:srgbClr val="800080"/>
      </a:folHlink>
    </a:clrScheme>
    <a:fontScheme name="Arcese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Arcese">
    <a:dk1>
      <a:sysClr val="windowText" lastClr="000000"/>
    </a:dk1>
    <a:lt1>
      <a:sysClr val="window" lastClr="FFFFFF"/>
    </a:lt1>
    <a:dk2>
      <a:srgbClr val="504C43"/>
    </a:dk2>
    <a:lt2>
      <a:srgbClr val="EBE6E0"/>
    </a:lt2>
    <a:accent1>
      <a:srgbClr val="C8102E"/>
    </a:accent1>
    <a:accent2>
      <a:srgbClr val="EBE6E0"/>
    </a:accent2>
    <a:accent3>
      <a:srgbClr val="A4D233"/>
    </a:accent3>
    <a:accent4>
      <a:srgbClr val="CDC9C1"/>
    </a:accent4>
    <a:accent5>
      <a:srgbClr val="858075"/>
    </a:accent5>
    <a:accent6>
      <a:srgbClr val="504C43"/>
    </a:accent6>
    <a:hlink>
      <a:srgbClr val="504C43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1295</Words>
  <Application>Microsoft Office PowerPoint</Application>
  <PresentationFormat>Widescreen</PresentationFormat>
  <Paragraphs>471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Aptos</vt:lpstr>
      <vt:lpstr>Arial</vt:lpstr>
      <vt:lpstr>Calibri</vt:lpstr>
      <vt:lpstr>Century Gothic</vt:lpstr>
      <vt:lpstr>Roboto</vt:lpstr>
      <vt:lpstr>Roboto Condensed</vt:lpstr>
      <vt:lpstr>Roboto Condensed Black</vt:lpstr>
      <vt:lpstr>Roboto Light</vt:lpstr>
      <vt:lpstr>Swis721 BT</vt:lpstr>
      <vt:lpstr>Swis721 Lt BT</vt:lpstr>
      <vt:lpstr>Wingdings</vt:lpstr>
      <vt:lpstr>Arcese</vt:lpstr>
      <vt:lpstr>LTL e Contract Logistics</vt:lpstr>
      <vt:lpstr>PowerPoint Presentation</vt:lpstr>
      <vt:lpstr>PowerPoint Presentation</vt:lpstr>
      <vt:lpstr>Summary</vt:lpstr>
      <vt:lpstr>PowerPoint Presentation</vt:lpstr>
      <vt:lpstr>PowerPoint Presentation</vt:lpstr>
      <vt:lpstr>PowerPoint Presentation</vt:lpstr>
      <vt:lpstr>PowerPoint Presentation</vt:lpstr>
      <vt:lpstr>Iniziative in corso</vt:lpstr>
      <vt:lpstr>Iniziative in corso</vt:lpstr>
      <vt:lpstr>Iniziative in corso</vt:lpstr>
      <vt:lpstr>Suspended Initiatives</vt:lpstr>
    </vt:vector>
  </TitlesOfParts>
  <Company>Gruppo Arcese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Rosti Andrea</dc:creator>
  <cp:lastModifiedBy>Rosti Andrea</cp:lastModifiedBy>
  <cp:revision>1</cp:revision>
  <dcterms:created xsi:type="dcterms:W3CDTF">2026-08-27T16:32:10Z</dcterms:created>
  <dcterms:modified xsi:type="dcterms:W3CDTF">2026-08-27T21:42:59Z</dcterms:modified>
</cp:coreProperties>
</file>